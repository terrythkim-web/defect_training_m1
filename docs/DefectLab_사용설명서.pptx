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fa219e19-3408-68a1-9ac7-bf432db4db67}">
          <p14:sldIdLst>
            <p14:sldId id="256"/>
            <p14:sldId id="257"/>
            <p14:sldId id="258"/>
          </p14:sldIdLst>
        </p14:section>
        <p14:section name="사용 순서" id="{069836f5-87ea-1e28-cb21-b4445488f91d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참고" id="{9cf16def-7dda-63e3-3199-61f48789882c}">
          <p14:sldIdLst>
            <p14:sldId id="268"/>
            <p14:sldId id="269"/>
            <p14:sldId id="270"/>
            <p14:sldId id="271"/>
          </p14:sldIdLst>
        </p14:section>
        <p14:section name="마무리" id="{77428915-beab-f92e-f284-0f7a40fea964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DefectLab은 결함 예시 이미지 몇 장으로 YOLO11 검사 모델을 만드는 데스크톱 앱입니다. 이 설명서는 프로젝트 생성부터 ONNX/CoreML 내보내기까지 순서대로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오른쪽 탭 순서(Augment → Train → Result → Compare → Export)가 작업 순서와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58521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56692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E8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47472"/>
            <a:ext cx="106070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</a:rPr>
              <a:t>DefectLab 사용 설명서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DefectLab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사용 설명서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E8"/>
                </a:solidFill>
              </a:rPr>
              <a:t>결함 사진 몇 장으로 검사 모델 만들기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E8"/>
                </a:solidFill>
              </a:rPr>
              <a:t>라벨링 · 증강 · 학습 · 비교 · 내보내기</a:t>
            </a:r>
            <a:endParaRPr lang="en-US" sz="1800" dirty="0"/>
          </a:p>
        </p:txBody>
      </p:sp>
      <p:sp>
        <p:nvSpPr>
          <p:cNvPr id="4" name="platforms"/>
          <p:cNvSpPr txBox="1"/>
          <p:nvPr/>
        </p:nvSpPr>
        <p:spPr>
          <a:xfrm>
            <a:off x="640080" y="5989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5"/>
                </a:solidFill>
              </a:rPr>
              <a:t>Mac (Apple Silicon) · Windows · Linux  |  2026년 10월</a:t>
            </a:r>
            <a:endParaRPr lang="en-US" sz="1200" dirty="0"/>
          </a:p>
        </p:txBody>
      </p:sp>
      <p:sp>
        <p:nvSpPr>
          <p:cNvPr id="5" name="DefectLab 메인 화면 frame"/>
          <p:cNvSpPr/>
          <p:nvPr/>
        </p:nvSpPr>
        <p:spPr>
          <a:xfrm>
            <a:off x="6665976" y="1908124"/>
            <a:ext cx="5138928" cy="3041752"/>
          </a:xfrm>
          <a:prstGeom prst="rect">
            <a:avLst/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efectLab 메인 화면" descr="DefectLab 메인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962988"/>
            <a:ext cx="5029200" cy="29320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 tag"/>
          <p:cNvSpPr/>
          <p:nvPr/>
        </p:nvSpPr>
        <p:spPr>
          <a:xfrm>
            <a:off x="457200" y="475488"/>
            <a:ext cx="566928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topic icon" descr="흐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274320" cy="2743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3474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작업 흐름 한눈에 보기</a:t>
            </a:r>
            <a:endParaRPr lang="en-US" sz="3000" dirty="0"/>
          </a:p>
        </p:txBody>
      </p:sp>
      <p:sp>
        <p:nvSpPr>
          <p:cNvPr id="5" name="step card 1"/>
          <p:cNvSpPr/>
          <p:nvPr/>
        </p:nvSpPr>
        <p:spPr>
          <a:xfrm>
            <a:off x="548640" y="1600200"/>
            <a:ext cx="1627632" cy="329184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685800" y="173736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badge 1 text"/>
          <p:cNvSpPr txBox="1"/>
          <p:nvPr/>
        </p:nvSpPr>
        <p:spPr>
          <a:xfrm>
            <a:off x="685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pic>
        <p:nvPicPr>
          <p:cNvPr id="8" name="step icon 1" descr="프로젝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240280"/>
            <a:ext cx="731520" cy="731520"/>
          </a:xfrm>
          <a:prstGeom prst="rect">
            <a:avLst/>
          </a:prstGeom>
        </p:spPr>
      </p:pic>
      <p:sp>
        <p:nvSpPr>
          <p:cNvPr id="9" name="step title 1"/>
          <p:cNvSpPr txBox="1"/>
          <p:nvPr/>
        </p:nvSpPr>
        <p:spPr>
          <a:xfrm>
            <a:off x="640080" y="31089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프로젝트</a:t>
            </a:r>
            <a:endParaRPr lang="en-US" sz="1700" dirty="0"/>
          </a:p>
        </p:txBody>
      </p:sp>
      <p:sp>
        <p:nvSpPr>
          <p:cNvPr id="10" name="step desc 1"/>
          <p:cNvSpPr txBox="1"/>
          <p:nvPr/>
        </p:nvSpPr>
        <p:spPr>
          <a:xfrm>
            <a:off x="640080" y="356616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폴더·작업·색 모드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이미지 추가</a:t>
            </a:r>
            <a:endParaRPr lang="en-US" sz="1300" dirty="0"/>
          </a:p>
        </p:txBody>
      </p:sp>
      <p:sp>
        <p:nvSpPr>
          <p:cNvPr id="11" name="step where 1"/>
          <p:cNvSpPr txBox="1"/>
          <p:nvPr/>
        </p:nvSpPr>
        <p:spPr>
          <a:xfrm>
            <a:off x="640080" y="43434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⌘N · ⌘I</a:t>
            </a:r>
            <a:endParaRPr lang="en-US" sz="1200" dirty="0"/>
          </a:p>
        </p:txBody>
      </p:sp>
      <p:pic>
        <p:nvPicPr>
          <p:cNvPr id="12" name="arrow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704" y="3063240"/>
            <a:ext cx="192024" cy="192024"/>
          </a:xfrm>
          <a:prstGeom prst="rect">
            <a:avLst/>
          </a:prstGeom>
        </p:spPr>
      </p:pic>
      <p:sp>
        <p:nvSpPr>
          <p:cNvPr id="13" name="step card 2"/>
          <p:cNvSpPr/>
          <p:nvPr/>
        </p:nvSpPr>
        <p:spPr>
          <a:xfrm>
            <a:off x="2423160" y="1600200"/>
            <a:ext cx="1627632" cy="329184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2"/>
          <p:cNvSpPr/>
          <p:nvPr/>
        </p:nvSpPr>
        <p:spPr>
          <a:xfrm>
            <a:off x="2560320" y="173736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5" name="badge 2 text"/>
          <p:cNvSpPr txBox="1"/>
          <p:nvPr/>
        </p:nvSpPr>
        <p:spPr>
          <a:xfrm>
            <a:off x="25603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pic>
        <p:nvPicPr>
          <p:cNvPr id="16" name="step icon 2" descr="라벨링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216" y="2240280"/>
            <a:ext cx="731520" cy="731520"/>
          </a:xfrm>
          <a:prstGeom prst="rect">
            <a:avLst/>
          </a:prstGeom>
        </p:spPr>
      </p:pic>
      <p:sp>
        <p:nvSpPr>
          <p:cNvPr id="17" name="step title 2"/>
          <p:cNvSpPr txBox="1"/>
          <p:nvPr/>
        </p:nvSpPr>
        <p:spPr>
          <a:xfrm>
            <a:off x="2514600" y="31089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라벨링</a:t>
            </a:r>
            <a:endParaRPr lang="en-US" sz="1700" dirty="0"/>
          </a:p>
        </p:txBody>
      </p:sp>
      <p:sp>
        <p:nvSpPr>
          <p:cNvPr id="18" name="step desc 2"/>
          <p:cNvSpPr txBox="1"/>
          <p:nvPr/>
        </p:nvSpPr>
        <p:spPr>
          <a:xfrm>
            <a:off x="2514600" y="356616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BBox·Polygon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SAM 보조·OK 표시</a:t>
            </a:r>
            <a:endParaRPr lang="en-US" sz="1300" dirty="0"/>
          </a:p>
        </p:txBody>
      </p:sp>
      <p:sp>
        <p:nvSpPr>
          <p:cNvPr id="19" name="step where 2"/>
          <p:cNvSpPr txBox="1"/>
          <p:nvPr/>
        </p:nvSpPr>
        <p:spPr>
          <a:xfrm>
            <a:off x="2514600" y="43434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왼쪽 캔버스</a:t>
            </a:r>
            <a:endParaRPr lang="en-US" sz="1200" dirty="0"/>
          </a:p>
        </p:txBody>
      </p:sp>
      <p:pic>
        <p:nvPicPr>
          <p:cNvPr id="20" name="arrow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8224" y="3063240"/>
            <a:ext cx="192024" cy="192024"/>
          </a:xfrm>
          <a:prstGeom prst="rect">
            <a:avLst/>
          </a:prstGeom>
        </p:spPr>
      </p:pic>
      <p:sp>
        <p:nvSpPr>
          <p:cNvPr id="21" name="step card 3"/>
          <p:cNvSpPr/>
          <p:nvPr/>
        </p:nvSpPr>
        <p:spPr>
          <a:xfrm>
            <a:off x="4297680" y="1600200"/>
            <a:ext cx="1627632" cy="329184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badge 3"/>
          <p:cNvSpPr/>
          <p:nvPr/>
        </p:nvSpPr>
        <p:spPr>
          <a:xfrm>
            <a:off x="4434840" y="173736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3" name="badge 3 text"/>
          <p:cNvSpPr txBox="1"/>
          <p:nvPr/>
        </p:nvSpPr>
        <p:spPr>
          <a:xfrm>
            <a:off x="44348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pic>
        <p:nvPicPr>
          <p:cNvPr id="24" name="step icon 3" descr="증강·데이터셋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2240280"/>
            <a:ext cx="731520" cy="731520"/>
          </a:xfrm>
          <a:prstGeom prst="rect">
            <a:avLst/>
          </a:prstGeom>
        </p:spPr>
      </p:pic>
      <p:sp>
        <p:nvSpPr>
          <p:cNvPr id="25" name="step title 3"/>
          <p:cNvSpPr txBox="1"/>
          <p:nvPr/>
        </p:nvSpPr>
        <p:spPr>
          <a:xfrm>
            <a:off x="4389120" y="31089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증강·데이터셋</a:t>
            </a:r>
            <a:endParaRPr lang="en-US" sz="1700" dirty="0"/>
          </a:p>
        </p:txBody>
      </p:sp>
      <p:sp>
        <p:nvSpPr>
          <p:cNvPr id="26" name="step desc 3"/>
          <p:cNvSpPr txBox="1"/>
          <p:nvPr/>
        </p:nvSpPr>
        <p:spPr>
          <a:xfrm>
            <a:off x="4389120" y="356616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프리셋·미리보기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Full / Crop 빌드</a:t>
            </a:r>
            <a:endParaRPr lang="en-US" sz="1300" dirty="0"/>
          </a:p>
        </p:txBody>
      </p:sp>
      <p:sp>
        <p:nvSpPr>
          <p:cNvPr id="27" name="step where 3"/>
          <p:cNvSpPr txBox="1"/>
          <p:nvPr/>
        </p:nvSpPr>
        <p:spPr>
          <a:xfrm>
            <a:off x="4389120" y="43434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Augment 탭</a:t>
            </a:r>
            <a:endParaRPr lang="en-US" sz="1200" dirty="0"/>
          </a:p>
        </p:txBody>
      </p:sp>
      <p:pic>
        <p:nvPicPr>
          <p:cNvPr id="28" name="arrow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2744" y="3063240"/>
            <a:ext cx="192024" cy="192024"/>
          </a:xfrm>
          <a:prstGeom prst="rect">
            <a:avLst/>
          </a:prstGeom>
        </p:spPr>
      </p:pic>
      <p:sp>
        <p:nvSpPr>
          <p:cNvPr id="29" name="step card 4"/>
          <p:cNvSpPr/>
          <p:nvPr/>
        </p:nvSpPr>
        <p:spPr>
          <a:xfrm>
            <a:off x="6172200" y="1600200"/>
            <a:ext cx="1627632" cy="329184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badge 4"/>
          <p:cNvSpPr/>
          <p:nvPr/>
        </p:nvSpPr>
        <p:spPr>
          <a:xfrm>
            <a:off x="6309360" y="173736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1" name="badge 4 text"/>
          <p:cNvSpPr txBox="1"/>
          <p:nvPr/>
        </p:nvSpPr>
        <p:spPr>
          <a:xfrm>
            <a:off x="63093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pic>
        <p:nvPicPr>
          <p:cNvPr id="32" name="step icon 4" descr="학습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0256" y="2240280"/>
            <a:ext cx="731520" cy="731520"/>
          </a:xfrm>
          <a:prstGeom prst="rect">
            <a:avLst/>
          </a:prstGeom>
        </p:spPr>
      </p:pic>
      <p:sp>
        <p:nvSpPr>
          <p:cNvPr id="33" name="step title 4"/>
          <p:cNvSpPr txBox="1"/>
          <p:nvPr/>
        </p:nvSpPr>
        <p:spPr>
          <a:xfrm>
            <a:off x="6263640" y="31089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학습</a:t>
            </a:r>
            <a:endParaRPr lang="en-US" sz="1700" dirty="0"/>
          </a:p>
        </p:txBody>
      </p:sp>
      <p:sp>
        <p:nvSpPr>
          <p:cNvPr id="34" name="step desc 4"/>
          <p:cNvSpPr txBox="1"/>
          <p:nvPr/>
        </p:nvSpPr>
        <p:spPr>
          <a:xfrm>
            <a:off x="6263640" y="356616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YOLO11 모델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GPU 자동 선택</a:t>
            </a:r>
            <a:endParaRPr lang="en-US" sz="1300" dirty="0"/>
          </a:p>
        </p:txBody>
      </p:sp>
      <p:sp>
        <p:nvSpPr>
          <p:cNvPr id="35" name="step where 4"/>
          <p:cNvSpPr txBox="1"/>
          <p:nvPr/>
        </p:nvSpPr>
        <p:spPr>
          <a:xfrm>
            <a:off x="6263640" y="43434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Train 탭</a:t>
            </a:r>
            <a:endParaRPr lang="en-US" sz="1200" dirty="0"/>
          </a:p>
        </p:txBody>
      </p:sp>
      <p:pic>
        <p:nvPicPr>
          <p:cNvPr id="36" name="arrow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27264" y="3063240"/>
            <a:ext cx="192024" cy="192024"/>
          </a:xfrm>
          <a:prstGeom prst="rect">
            <a:avLst/>
          </a:prstGeom>
        </p:spPr>
      </p:pic>
      <p:sp>
        <p:nvSpPr>
          <p:cNvPr id="37" name="step card 5"/>
          <p:cNvSpPr/>
          <p:nvPr/>
        </p:nvSpPr>
        <p:spPr>
          <a:xfrm>
            <a:off x="8046720" y="1600200"/>
            <a:ext cx="1627632" cy="329184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badge 5"/>
          <p:cNvSpPr/>
          <p:nvPr/>
        </p:nvSpPr>
        <p:spPr>
          <a:xfrm>
            <a:off x="8183880" y="173736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9" name="badge 5 text"/>
          <p:cNvSpPr txBox="1"/>
          <p:nvPr/>
        </p:nvSpPr>
        <p:spPr>
          <a:xfrm>
            <a:off x="81838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pic>
        <p:nvPicPr>
          <p:cNvPr id="40" name="step icon 5" descr="결과·비교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4776" y="2240280"/>
            <a:ext cx="731520" cy="731520"/>
          </a:xfrm>
          <a:prstGeom prst="rect">
            <a:avLst/>
          </a:prstGeom>
        </p:spPr>
      </p:pic>
      <p:sp>
        <p:nvSpPr>
          <p:cNvPr id="41" name="step title 5"/>
          <p:cNvSpPr txBox="1"/>
          <p:nvPr/>
        </p:nvSpPr>
        <p:spPr>
          <a:xfrm>
            <a:off x="8138160" y="31089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결과·비교</a:t>
            </a:r>
            <a:endParaRPr lang="en-US" sz="1700" dirty="0"/>
          </a:p>
        </p:txBody>
      </p:sp>
      <p:sp>
        <p:nvSpPr>
          <p:cNvPr id="42" name="step desc 5"/>
          <p:cNvSpPr txBox="1"/>
          <p:nvPr/>
        </p:nvSpPr>
        <p:spPr>
          <a:xfrm>
            <a:off x="8138160" y="356616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검증 그리드·제안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Full vs Crop 리포트</a:t>
            </a:r>
            <a:endParaRPr lang="en-US" sz="1300" dirty="0"/>
          </a:p>
        </p:txBody>
      </p:sp>
      <p:sp>
        <p:nvSpPr>
          <p:cNvPr id="43" name="step where 5"/>
          <p:cNvSpPr txBox="1"/>
          <p:nvPr/>
        </p:nvSpPr>
        <p:spPr>
          <a:xfrm>
            <a:off x="8138160" y="43434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Result · Compare</a:t>
            </a:r>
            <a:endParaRPr lang="en-US" sz="1200" dirty="0"/>
          </a:p>
        </p:txBody>
      </p:sp>
      <p:pic>
        <p:nvPicPr>
          <p:cNvPr id="44" name="arrow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01784" y="3063240"/>
            <a:ext cx="192024" cy="192024"/>
          </a:xfrm>
          <a:prstGeom prst="rect">
            <a:avLst/>
          </a:prstGeom>
        </p:spPr>
      </p:pic>
      <p:sp>
        <p:nvSpPr>
          <p:cNvPr id="45" name="step card 6"/>
          <p:cNvSpPr/>
          <p:nvPr/>
        </p:nvSpPr>
        <p:spPr>
          <a:xfrm>
            <a:off x="9921240" y="1600200"/>
            <a:ext cx="1627632" cy="329184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badge 6"/>
          <p:cNvSpPr/>
          <p:nvPr/>
        </p:nvSpPr>
        <p:spPr>
          <a:xfrm>
            <a:off x="10058400" y="173736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7" name="badge 6 text"/>
          <p:cNvSpPr txBox="1"/>
          <p:nvPr/>
        </p:nvSpPr>
        <p:spPr>
          <a:xfrm>
            <a:off x="100584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pic>
        <p:nvPicPr>
          <p:cNvPr id="48" name="step icon 6" descr="내보내기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69296" y="2240280"/>
            <a:ext cx="731520" cy="731520"/>
          </a:xfrm>
          <a:prstGeom prst="rect">
            <a:avLst/>
          </a:prstGeom>
        </p:spPr>
      </p:pic>
      <p:sp>
        <p:nvSpPr>
          <p:cNvPr id="49" name="step title 6"/>
          <p:cNvSpPr txBox="1"/>
          <p:nvPr/>
        </p:nvSpPr>
        <p:spPr>
          <a:xfrm>
            <a:off x="10012680" y="31089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내보내기</a:t>
            </a:r>
            <a:endParaRPr lang="en-US" sz="1700" dirty="0"/>
          </a:p>
        </p:txBody>
      </p:sp>
      <p:sp>
        <p:nvSpPr>
          <p:cNvPr id="50" name="step desc 6"/>
          <p:cNvSpPr txBox="1"/>
          <p:nvPr/>
        </p:nvSpPr>
        <p:spPr>
          <a:xfrm>
            <a:off x="10012680" y="356616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ONNX · CoreML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자동 검증</a:t>
            </a:r>
            <a:endParaRPr lang="en-US" sz="1300" dirty="0"/>
          </a:p>
        </p:txBody>
      </p:sp>
      <p:sp>
        <p:nvSpPr>
          <p:cNvPr id="51" name="step where 6"/>
          <p:cNvSpPr txBox="1"/>
          <p:nvPr/>
        </p:nvSpPr>
        <p:spPr>
          <a:xfrm>
            <a:off x="10012680" y="43434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Export 탭</a:t>
            </a:r>
            <a:endParaRPr lang="en-US" sz="1200" dirty="0"/>
          </a:p>
        </p:txBody>
      </p:sp>
      <p:sp>
        <p:nvSpPr>
          <p:cNvPr id="52" name="note box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3" name="note text"/>
          <p:cNvSpPr txBox="1"/>
          <p:nvPr/>
        </p:nvSpPr>
        <p:spPr>
          <a:xfrm>
            <a:off x="731520" y="5257800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학습한 모델로 미라벨 이미지에 라벨 제안을 만들어 2단계로 돌아갈 수 있습니다 — 라벨 → 학습 → 제안 검토를 반복하면 라벨링이 빨라집니다.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 tag"/>
          <p:cNvSpPr/>
          <p:nvPr/>
        </p:nvSpPr>
        <p:spPr>
          <a:xfrm>
            <a:off x="457200" y="475488"/>
            <a:ext cx="566928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topic icon" descr="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274320" cy="2743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3474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화면 구성</a:t>
            </a:r>
            <a:endParaRPr lang="en-US" sz="3000" dirty="0"/>
          </a:p>
        </p:txBody>
      </p:sp>
      <p:sp>
        <p:nvSpPr>
          <p:cNvPr id="5" name="메인 화면 frame"/>
          <p:cNvSpPr/>
          <p:nvPr/>
        </p:nvSpPr>
        <p:spPr>
          <a:xfrm>
            <a:off x="402336" y="1379007"/>
            <a:ext cx="7973568" cy="4694347"/>
          </a:xfrm>
          <a:prstGeom prst="rect">
            <a:avLst/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메인 화면" descr="메인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3871"/>
            <a:ext cx="7863840" cy="4584619"/>
          </a:xfrm>
          <a:prstGeom prst="rect">
            <a:avLst/>
          </a:prstGeom>
        </p:spPr>
      </p:pic>
      <p:sp>
        <p:nvSpPr>
          <p:cNvPr id="7" name="badge 1"/>
          <p:cNvSpPr/>
          <p:nvPr/>
        </p:nvSpPr>
        <p:spPr>
          <a:xfrm>
            <a:off x="3586277" y="1325629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badge 1 text"/>
          <p:cNvSpPr txBox="1"/>
          <p:nvPr/>
        </p:nvSpPr>
        <p:spPr>
          <a:xfrm>
            <a:off x="3586277" y="132562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badge 2"/>
          <p:cNvSpPr/>
          <p:nvPr/>
        </p:nvSpPr>
        <p:spPr>
          <a:xfrm>
            <a:off x="993394" y="1930089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badge 2 text"/>
          <p:cNvSpPr txBox="1"/>
          <p:nvPr/>
        </p:nvSpPr>
        <p:spPr>
          <a:xfrm>
            <a:off x="993394" y="193008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badge 3"/>
          <p:cNvSpPr/>
          <p:nvPr/>
        </p:nvSpPr>
        <p:spPr>
          <a:xfrm>
            <a:off x="993394" y="352733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badge 3 text"/>
          <p:cNvSpPr txBox="1"/>
          <p:nvPr/>
        </p:nvSpPr>
        <p:spPr>
          <a:xfrm>
            <a:off x="993394" y="352733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badge 4"/>
          <p:cNvSpPr/>
          <p:nvPr/>
        </p:nvSpPr>
        <p:spPr>
          <a:xfrm>
            <a:off x="3259927" y="2683004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badge 4 text"/>
          <p:cNvSpPr txBox="1"/>
          <p:nvPr/>
        </p:nvSpPr>
        <p:spPr>
          <a:xfrm>
            <a:off x="3259927" y="26830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badge 5"/>
          <p:cNvSpPr/>
          <p:nvPr/>
        </p:nvSpPr>
        <p:spPr>
          <a:xfrm>
            <a:off x="7101413" y="2769129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badge 5 text"/>
          <p:cNvSpPr txBox="1"/>
          <p:nvPr/>
        </p:nvSpPr>
        <p:spPr>
          <a:xfrm>
            <a:off x="7101413" y="276912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badge 6"/>
          <p:cNvSpPr/>
          <p:nvPr/>
        </p:nvSpPr>
        <p:spPr>
          <a:xfrm>
            <a:off x="2878531" y="5671017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badge 6 text"/>
          <p:cNvSpPr txBox="1"/>
          <p:nvPr/>
        </p:nvSpPr>
        <p:spPr>
          <a:xfrm>
            <a:off x="2878531" y="567101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19" name="badge 1"/>
          <p:cNvSpPr/>
          <p:nvPr/>
        </p:nvSpPr>
        <p:spPr>
          <a:xfrm>
            <a:off x="8641080" y="129844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badge 1 text"/>
          <p:cNvSpPr txBox="1"/>
          <p:nvPr/>
        </p:nvSpPr>
        <p:spPr>
          <a:xfrm>
            <a:off x="864108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legend 1"/>
          <p:cNvSpPr txBox="1"/>
          <p:nvPr/>
        </p:nvSpPr>
        <p:spPr>
          <a:xfrm>
            <a:off x="9098280" y="1234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툴바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새 프로젝트·열기·폴더 추가·저장, 라벨 도구, 실행 취소</a:t>
            </a:r>
            <a:endParaRPr lang="en-US" sz="1500" dirty="0"/>
          </a:p>
        </p:txBody>
      </p:sp>
      <p:sp>
        <p:nvSpPr>
          <p:cNvPr id="22" name="badge 2"/>
          <p:cNvSpPr/>
          <p:nvPr/>
        </p:nvSpPr>
        <p:spPr>
          <a:xfrm>
            <a:off x="8641080" y="212140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3" name="badge 2 text"/>
          <p:cNvSpPr txBox="1"/>
          <p:nvPr/>
        </p:nvSpPr>
        <p:spPr>
          <a:xfrm>
            <a:off x="864108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legend 2"/>
          <p:cNvSpPr txBox="1"/>
          <p:nvPr/>
        </p:nvSpPr>
        <p:spPr>
          <a:xfrm>
            <a:off x="9098280" y="20574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이미지 목록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썸네일과 라벨 상태, 위의 필터로 미라벨·제안 대기·OK만 보기</a:t>
            </a:r>
            <a:endParaRPr lang="en-US" sz="1500" dirty="0"/>
          </a:p>
        </p:txBody>
      </p:sp>
      <p:sp>
        <p:nvSpPr>
          <p:cNvPr id="25" name="badge 3"/>
          <p:cNvSpPr/>
          <p:nvPr/>
        </p:nvSpPr>
        <p:spPr>
          <a:xfrm>
            <a:off x="8641080" y="294436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badge 3 text"/>
          <p:cNvSpPr txBox="1"/>
          <p:nvPr/>
        </p:nvSpPr>
        <p:spPr>
          <a:xfrm>
            <a:off x="864108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legend 3"/>
          <p:cNvSpPr txBox="1"/>
          <p:nvPr/>
        </p:nvSpPr>
        <p:spPr>
          <a:xfrm>
            <a:off x="9098280" y="28803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라벨 · 제안 · 클래스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현재 이미지의 라벨, 제안 수락/거절, 클래스 추가·색상</a:t>
            </a:r>
            <a:endParaRPr lang="en-US" sz="1500" dirty="0"/>
          </a:p>
        </p:txBody>
      </p:sp>
      <p:sp>
        <p:nvSpPr>
          <p:cNvPr id="28" name="badge 4"/>
          <p:cNvSpPr/>
          <p:nvPr/>
        </p:nvSpPr>
        <p:spPr>
          <a:xfrm>
            <a:off x="8641080" y="376732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9" name="badge 4 text"/>
          <p:cNvSpPr txBox="1"/>
          <p:nvPr/>
        </p:nvSpPr>
        <p:spPr>
          <a:xfrm>
            <a:off x="8641080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legend 4"/>
          <p:cNvSpPr txBox="1"/>
          <p:nvPr/>
        </p:nvSpPr>
        <p:spPr>
          <a:xfrm>
            <a:off x="9098280" y="3703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캔버스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라벨 그리기·편집, 확대/이동, 밝기·대비(표시만)</a:t>
            </a:r>
            <a:endParaRPr lang="en-US" sz="1500" dirty="0"/>
          </a:p>
        </p:txBody>
      </p:sp>
      <p:sp>
        <p:nvSpPr>
          <p:cNvPr id="31" name="badge 5"/>
          <p:cNvSpPr/>
          <p:nvPr/>
        </p:nvSpPr>
        <p:spPr>
          <a:xfrm>
            <a:off x="8641080" y="459028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2" name="badge 5 text"/>
          <p:cNvSpPr txBox="1"/>
          <p:nvPr/>
        </p:nvSpPr>
        <p:spPr>
          <a:xfrm>
            <a:off x="8641080" y="4590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legend 5"/>
          <p:cNvSpPr txBox="1"/>
          <p:nvPr/>
        </p:nvSpPr>
        <p:spPr>
          <a:xfrm>
            <a:off x="9098280" y="4526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작업 탭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Augment · Train · Result · Compare · Export</a:t>
            </a:r>
            <a:endParaRPr lang="en-US" sz="1500" dirty="0"/>
          </a:p>
        </p:txBody>
      </p:sp>
      <p:sp>
        <p:nvSpPr>
          <p:cNvPr id="34" name="badge 6"/>
          <p:cNvSpPr/>
          <p:nvPr/>
        </p:nvSpPr>
        <p:spPr>
          <a:xfrm>
            <a:off x="8641080" y="541324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5" name="badge 6 text"/>
          <p:cNvSpPr txBox="1"/>
          <p:nvPr/>
        </p:nvSpPr>
        <p:spPr>
          <a:xfrm>
            <a:off x="8641080" y="5413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legend 6"/>
          <p:cNvSpPr txBox="1"/>
          <p:nvPr/>
        </p:nvSpPr>
        <p:spPr>
          <a:xfrm>
            <a:off x="9098280" y="53492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상태바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이미지 번호, 라벨 수, 좌표, 도구, 계산 장치(GPU: Apple MPS 등)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475488"/>
            <a:ext cx="566928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tep tag text"/>
          <p:cNvSpPr txBox="1"/>
          <p:nvPr/>
        </p:nvSpPr>
        <p:spPr>
          <a:xfrm>
            <a:off x="457200" y="47548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3474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프로젝트 만들기와 이미지 추가</a:t>
            </a:r>
            <a:endParaRPr lang="en-US" sz="3000" dirty="0"/>
          </a:p>
        </p:txBody>
      </p:sp>
      <p:sp>
        <p:nvSpPr>
          <p:cNvPr id="5" name="새 프로젝트 대화상자 frame"/>
          <p:cNvSpPr/>
          <p:nvPr/>
        </p:nvSpPr>
        <p:spPr>
          <a:xfrm>
            <a:off x="493776" y="1361237"/>
            <a:ext cx="5687568" cy="2489606"/>
          </a:xfrm>
          <a:prstGeom prst="rect">
            <a:avLst/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새 프로젝트 대화상자" descr="새 프로젝트 대화상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6101"/>
            <a:ext cx="5577840" cy="2379878"/>
          </a:xfrm>
          <a:prstGeom prst="rect">
            <a:avLst/>
          </a:prstGeom>
        </p:spPr>
      </p:pic>
      <p:sp>
        <p:nvSpPr>
          <p:cNvPr id="7" name="badge 1"/>
          <p:cNvSpPr/>
          <p:nvPr/>
        </p:nvSpPr>
        <p:spPr>
          <a:xfrm>
            <a:off x="6583680" y="138988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badge 1 text"/>
          <p:cNvSpPr txBox="1"/>
          <p:nvPr/>
        </p:nvSpPr>
        <p:spPr>
          <a:xfrm>
            <a:off x="658368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row 1"/>
          <p:cNvSpPr txBox="1"/>
          <p:nvPr/>
        </p:nvSpPr>
        <p:spPr>
          <a:xfrm>
            <a:off x="7086600" y="1335024"/>
            <a:ext cx="46177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⌘N 새 프로젝트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폴더와 이름을 정하고 작업(task)과 색 모드를 고릅니다. 둘 다 나중에 바꾸기 어렵습니다.</a:t>
            </a:r>
            <a:endParaRPr lang="en-US" sz="1600" dirty="0"/>
          </a:p>
        </p:txBody>
      </p:sp>
      <p:sp>
        <p:nvSpPr>
          <p:cNvPr id="10" name="badge 2"/>
          <p:cNvSpPr/>
          <p:nvPr/>
        </p:nvSpPr>
        <p:spPr>
          <a:xfrm>
            <a:off x="6583680" y="244144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badge 2 text"/>
          <p:cNvSpPr txBox="1"/>
          <p:nvPr/>
        </p:nvSpPr>
        <p:spPr>
          <a:xfrm>
            <a:off x="658368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row 2"/>
          <p:cNvSpPr txBox="1"/>
          <p:nvPr/>
        </p:nvSpPr>
        <p:spPr>
          <a:xfrm>
            <a:off x="7086600" y="2386584"/>
            <a:ext cx="46177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⌘I 이미지 폴더 추가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PNG · JPEG · BMP · TIFF(16bit 포함)를 프로젝트의 images/ 폴더로 복사합니다.</a:t>
            </a:r>
            <a:endParaRPr lang="en-US" sz="1600" dirty="0"/>
          </a:p>
        </p:txBody>
      </p:sp>
      <p:sp>
        <p:nvSpPr>
          <p:cNvPr id="13" name="badge 3"/>
          <p:cNvSpPr/>
          <p:nvPr/>
        </p:nvSpPr>
        <p:spPr>
          <a:xfrm>
            <a:off x="6583680" y="349300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badge 3 text"/>
          <p:cNvSpPr txBox="1"/>
          <p:nvPr/>
        </p:nvSpPr>
        <p:spPr>
          <a:xfrm>
            <a:off x="6583680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row 3"/>
          <p:cNvSpPr txBox="1"/>
          <p:nvPr/>
        </p:nvSpPr>
        <p:spPr>
          <a:xfrm>
            <a:off x="7086600" y="3438144"/>
            <a:ext cx="46177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클래스 추가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왼쪽 아래 '+ 클래스'. 이름 변경·색상 지정, 숫자 키 1~9로 현재 클래스 선택.</a:t>
            </a:r>
            <a:endParaRPr lang="en-US" sz="1600" dirty="0"/>
          </a:p>
        </p:txBody>
      </p:sp>
      <p:sp>
        <p:nvSpPr>
          <p:cNvPr id="16" name="option 1"/>
          <p:cNvSpPr/>
          <p:nvPr/>
        </p:nvSpPr>
        <p:spPr>
          <a:xfrm>
            <a:off x="548640" y="4251960"/>
            <a:ext cx="2103120" cy="475488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option 1 name"/>
          <p:cNvSpPr txBox="1"/>
          <p:nvPr/>
        </p:nvSpPr>
        <p:spPr>
          <a:xfrm>
            <a:off x="548640" y="4251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detect — BBox</a:t>
            </a:r>
            <a:endParaRPr lang="en-US" sz="1400" dirty="0"/>
          </a:p>
        </p:txBody>
      </p:sp>
      <p:sp>
        <p:nvSpPr>
          <p:cNvPr id="18" name="option 1 desc"/>
          <p:cNvSpPr txBox="1"/>
          <p:nvPr/>
        </p:nvSpPr>
        <p:spPr>
          <a:xfrm>
            <a:off x="2834640" y="425196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결함 위치를 사각형으로 찾기 (대부분의 검사)</a:t>
            </a:r>
            <a:endParaRPr lang="en-US" sz="1300" dirty="0"/>
          </a:p>
        </p:txBody>
      </p:sp>
      <p:sp>
        <p:nvSpPr>
          <p:cNvPr id="19" name="option 2"/>
          <p:cNvSpPr/>
          <p:nvPr/>
        </p:nvSpPr>
        <p:spPr>
          <a:xfrm>
            <a:off x="548640" y="4873752"/>
            <a:ext cx="2103120" cy="475488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option 2 name"/>
          <p:cNvSpPr txBox="1"/>
          <p:nvPr/>
        </p:nvSpPr>
        <p:spPr>
          <a:xfrm>
            <a:off x="548640" y="48737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seg — Polygon</a:t>
            </a:r>
            <a:endParaRPr lang="en-US" sz="1400" dirty="0"/>
          </a:p>
        </p:txBody>
      </p:sp>
      <p:sp>
        <p:nvSpPr>
          <p:cNvPr id="21" name="option 2 desc"/>
          <p:cNvSpPr txBox="1"/>
          <p:nvPr/>
        </p:nvSpPr>
        <p:spPr>
          <a:xfrm>
            <a:off x="2834640" y="48737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결함 모양을 영역으로 따기 (면적·형상이 중요할 때)</a:t>
            </a:r>
            <a:endParaRPr lang="en-US" sz="1300" dirty="0"/>
          </a:p>
        </p:txBody>
      </p:sp>
      <p:sp>
        <p:nvSpPr>
          <p:cNvPr id="22" name="option 3"/>
          <p:cNvSpPr/>
          <p:nvPr/>
        </p:nvSpPr>
        <p:spPr>
          <a:xfrm>
            <a:off x="548640" y="5495544"/>
            <a:ext cx="2103120" cy="475488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option 3 name"/>
          <p:cNvSpPr txBox="1"/>
          <p:nvPr/>
        </p:nvSpPr>
        <p:spPr>
          <a:xfrm>
            <a:off x="548640" y="54955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그레이 (1채널)</a:t>
            </a:r>
            <a:endParaRPr lang="en-US" sz="1400" dirty="0"/>
          </a:p>
        </p:txBody>
      </p:sp>
      <p:sp>
        <p:nvSpPr>
          <p:cNvPr id="24" name="option 3 desc"/>
          <p:cNvSpPr txBox="1"/>
          <p:nvPr/>
        </p:nvSpPr>
        <p:spPr>
          <a:xfrm>
            <a:off x="2834640" y="549554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흑백 카메라 이미지. 모델 입력도 1채널, CoreML은 컬러만</a:t>
            </a:r>
            <a:endParaRPr lang="en-US" sz="1300" dirty="0"/>
          </a:p>
        </p:txBody>
      </p:sp>
      <p:sp>
        <p:nvSpPr>
          <p:cNvPr id="25" name="note box"/>
          <p:cNvSpPr/>
          <p:nvPr/>
        </p:nvSpPr>
        <p:spPr>
          <a:xfrm>
            <a:off x="6583680" y="4617720"/>
            <a:ext cx="5120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note text"/>
          <p:cNvSpPr txBox="1"/>
          <p:nvPr/>
        </p:nvSpPr>
        <p:spPr>
          <a:xfrm>
            <a:off x="6766560" y="4617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경로에 공백·한글이 있어도 됩니다. 같은 이름의 이미지(a.png, a.jpg)는 a_1.jpg처럼 자동으로 이름이 바뀝니다.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475488"/>
            <a:ext cx="566928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tep tag text"/>
          <p:cNvSpPr txBox="1"/>
          <p:nvPr/>
        </p:nvSpPr>
        <p:spPr>
          <a:xfrm>
            <a:off x="457200" y="47548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3474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라벨링 도구</a:t>
            </a:r>
            <a:endParaRPr lang="en-US" sz="3000" dirty="0"/>
          </a:p>
        </p:txBody>
      </p:sp>
      <p:sp>
        <p:nvSpPr>
          <p:cNvPr id="5" name="캔버스에서 라벨 선택 frame"/>
          <p:cNvSpPr/>
          <p:nvPr/>
        </p:nvSpPr>
        <p:spPr>
          <a:xfrm>
            <a:off x="662666" y="1225296"/>
            <a:ext cx="4252509" cy="5047488"/>
          </a:xfrm>
          <a:prstGeom prst="rect">
            <a:avLst/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캔버스에서 라벨 선택" descr="캔버스에서 라벨 선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30" y="1280160"/>
            <a:ext cx="4142781" cy="4937760"/>
          </a:xfrm>
          <a:prstGeom prst="rect">
            <a:avLst/>
          </a:prstGeom>
        </p:spPr>
      </p:pic>
      <p:sp>
        <p:nvSpPr>
          <p:cNvPr id="7" name="key B"/>
          <p:cNvSpPr/>
          <p:nvPr/>
        </p:nvSpPr>
        <p:spPr>
          <a:xfrm>
            <a:off x="5486400" y="1325880"/>
            <a:ext cx="502920" cy="3657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rgbClr val="C5CED6"/>
            </a:solidFill>
            <a:prstDash val="solid"/>
          </a:ln>
        </p:spPr>
      </p:sp>
      <p:sp>
        <p:nvSpPr>
          <p:cNvPr id="8" name="key B text"/>
          <p:cNvSpPr txBox="1"/>
          <p:nvPr/>
        </p:nvSpPr>
        <p:spPr>
          <a:xfrm>
            <a:off x="5486400" y="1325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</a:t>
            </a:r>
            <a:endParaRPr lang="en-US" sz="1400" dirty="0"/>
          </a:p>
        </p:txBody>
      </p:sp>
      <p:sp>
        <p:nvSpPr>
          <p:cNvPr id="9" name="tool BBox"/>
          <p:cNvSpPr txBox="1"/>
          <p:nvPr/>
        </p:nvSpPr>
        <p:spPr>
          <a:xfrm>
            <a:off x="6172200" y="1325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BBox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드래그해서 사각형</a:t>
            </a:r>
            <a:endParaRPr lang="en-US" sz="1400" dirty="0"/>
          </a:p>
        </p:txBody>
      </p:sp>
      <p:sp>
        <p:nvSpPr>
          <p:cNvPr id="10" name="key P"/>
          <p:cNvSpPr/>
          <p:nvPr/>
        </p:nvSpPr>
        <p:spPr>
          <a:xfrm>
            <a:off x="5486400" y="1892808"/>
            <a:ext cx="502920" cy="3657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rgbClr val="C5CED6"/>
            </a:solidFill>
            <a:prstDash val="solid"/>
          </a:ln>
        </p:spPr>
      </p:sp>
      <p:sp>
        <p:nvSpPr>
          <p:cNvPr id="11" name="key P text"/>
          <p:cNvSpPr txBox="1"/>
          <p:nvPr/>
        </p:nvSpPr>
        <p:spPr>
          <a:xfrm>
            <a:off x="5486400" y="1892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</a:t>
            </a:r>
            <a:endParaRPr lang="en-US" sz="1400" dirty="0"/>
          </a:p>
        </p:txBody>
      </p:sp>
      <p:sp>
        <p:nvSpPr>
          <p:cNvPr id="12" name="tool Polygon"/>
          <p:cNvSpPr txBox="1"/>
          <p:nvPr/>
        </p:nvSpPr>
        <p:spPr>
          <a:xfrm>
            <a:off x="6172200" y="189280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Polygon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클릭으로 점 찍기 → Enter 완료, Backspace 마지막 점 삭제</a:t>
            </a:r>
            <a:endParaRPr lang="en-US" sz="1400" dirty="0"/>
          </a:p>
        </p:txBody>
      </p:sp>
      <p:sp>
        <p:nvSpPr>
          <p:cNvPr id="13" name="key V"/>
          <p:cNvSpPr/>
          <p:nvPr/>
        </p:nvSpPr>
        <p:spPr>
          <a:xfrm>
            <a:off x="5486400" y="2459736"/>
            <a:ext cx="502920" cy="3657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rgbClr val="C5CED6"/>
            </a:solidFill>
            <a:prstDash val="solid"/>
          </a:ln>
        </p:spPr>
      </p:sp>
      <p:sp>
        <p:nvSpPr>
          <p:cNvPr id="14" name="key V text"/>
          <p:cNvSpPr txBox="1"/>
          <p:nvPr/>
        </p:nvSpPr>
        <p:spPr>
          <a:xfrm>
            <a:off x="5486400" y="24597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</a:t>
            </a:r>
            <a:endParaRPr lang="en-US" sz="1400" dirty="0"/>
          </a:p>
        </p:txBody>
      </p:sp>
      <p:sp>
        <p:nvSpPr>
          <p:cNvPr id="15" name="tool 선택"/>
          <p:cNvSpPr txBox="1"/>
          <p:nvPr/>
        </p:nvSpPr>
        <p:spPr>
          <a:xfrm>
            <a:off x="6172200" y="245973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선택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클릭 선택, 끌어서 이동, 모서리로 크기 조절</a:t>
            </a:r>
            <a:endParaRPr lang="en-US" sz="1400" dirty="0"/>
          </a:p>
        </p:txBody>
      </p:sp>
      <p:sp>
        <p:nvSpPr>
          <p:cNvPr id="16" name="key E"/>
          <p:cNvSpPr/>
          <p:nvPr/>
        </p:nvSpPr>
        <p:spPr>
          <a:xfrm>
            <a:off x="5486400" y="3026664"/>
            <a:ext cx="502920" cy="3657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rgbClr val="C5CED6"/>
            </a:solidFill>
            <a:prstDash val="solid"/>
          </a:ln>
        </p:spPr>
      </p:sp>
      <p:sp>
        <p:nvSpPr>
          <p:cNvPr id="17" name="key E text"/>
          <p:cNvSpPr txBox="1"/>
          <p:nvPr/>
        </p:nvSpPr>
        <p:spPr>
          <a:xfrm>
            <a:off x="5486400" y="30266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</a:t>
            </a:r>
            <a:endParaRPr lang="en-US" sz="1400" dirty="0"/>
          </a:p>
        </p:txBody>
      </p:sp>
      <p:sp>
        <p:nvSpPr>
          <p:cNvPr id="18" name="tool 지우개"/>
          <p:cNvSpPr txBox="1"/>
          <p:nvPr/>
        </p:nvSpPr>
        <p:spPr>
          <a:xfrm>
            <a:off x="6172200" y="302666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지우개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클릭한 라벨 삭제</a:t>
            </a:r>
            <a:endParaRPr lang="en-US" sz="1400" dirty="0"/>
          </a:p>
        </p:txBody>
      </p:sp>
      <p:sp>
        <p:nvSpPr>
          <p:cNvPr id="19" name="key C"/>
          <p:cNvSpPr/>
          <p:nvPr/>
        </p:nvSpPr>
        <p:spPr>
          <a:xfrm>
            <a:off x="5486400" y="3593592"/>
            <a:ext cx="502920" cy="3657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rgbClr val="C5CED6"/>
            </a:solidFill>
            <a:prstDash val="solid"/>
          </a:ln>
        </p:spPr>
      </p:sp>
      <p:sp>
        <p:nvSpPr>
          <p:cNvPr id="20" name="key C text"/>
          <p:cNvSpPr txBox="1"/>
          <p:nvPr/>
        </p:nvSpPr>
        <p:spPr>
          <a:xfrm>
            <a:off x="5486400" y="35935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</a:t>
            </a:r>
            <a:endParaRPr lang="en-US" sz="1400" dirty="0"/>
          </a:p>
        </p:txBody>
      </p:sp>
      <p:sp>
        <p:nvSpPr>
          <p:cNvPr id="21" name="tool Crop ROI"/>
          <p:cNvSpPr txBox="1"/>
          <p:nvPr/>
        </p:nvSpPr>
        <p:spPr>
          <a:xfrm>
            <a:off x="6172200" y="359359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Crop ROI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crop할 영역 지정 (작은 결함용, 선택)</a:t>
            </a:r>
            <a:endParaRPr lang="en-US" sz="1400" dirty="0"/>
          </a:p>
        </p:txBody>
      </p:sp>
      <p:sp>
        <p:nvSpPr>
          <p:cNvPr id="22" name="key S"/>
          <p:cNvSpPr/>
          <p:nvPr/>
        </p:nvSpPr>
        <p:spPr>
          <a:xfrm>
            <a:off x="5486400" y="4160520"/>
            <a:ext cx="502920" cy="3657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rgbClr val="C5CED6"/>
            </a:solidFill>
            <a:prstDash val="solid"/>
          </a:ln>
        </p:spPr>
      </p:sp>
      <p:sp>
        <p:nvSpPr>
          <p:cNvPr id="23" name="key S text"/>
          <p:cNvSpPr txBox="1"/>
          <p:nvPr/>
        </p:nvSpPr>
        <p:spPr>
          <a:xfrm>
            <a:off x="5486400" y="41605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</a:t>
            </a:r>
            <a:endParaRPr lang="en-US" sz="1400" dirty="0"/>
          </a:p>
        </p:txBody>
      </p:sp>
      <p:sp>
        <p:nvSpPr>
          <p:cNvPr id="24" name="tool SAM 보조"/>
          <p:cNvSpPr txBox="1"/>
          <p:nvPr/>
        </p:nvSpPr>
        <p:spPr>
          <a:xfrm>
            <a:off x="6172200" y="41605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SAM 보조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클릭 한 번으로 영역 제안 (다음 장)</a:t>
            </a:r>
            <a:endParaRPr lang="en-US" sz="1400" dirty="0"/>
          </a:p>
        </p:txBody>
      </p:sp>
      <p:sp>
        <p:nvSpPr>
          <p:cNvPr id="25" name="view head"/>
          <p:cNvSpPr txBox="1"/>
          <p:nvPr/>
        </p:nvSpPr>
        <p:spPr>
          <a:xfrm>
            <a:off x="548640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화면 보기</a:t>
            </a:r>
            <a:endParaRPr lang="en-US" sz="1600" dirty="0"/>
          </a:p>
        </p:txBody>
      </p:sp>
      <p:sp>
        <p:nvSpPr>
          <p:cNvPr id="26" name="view tips"/>
          <p:cNvSpPr txBox="1"/>
          <p:nvPr/>
        </p:nvSpPr>
        <p:spPr>
          <a:xfrm>
            <a:off x="5486400" y="5120640"/>
            <a:ext cx="6263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휠 또는 두 손가락 스크롤로 확대·축소, 스페이스+드래그로 이동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⌘0 화면에 맞춤 · ⌘1 실제 크기 · A / D 이전·다음 이미지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밝기·대비 슬라이더는 보기만 바꿉니다 (라벨·학습에는 영향 없음)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475488"/>
            <a:ext cx="566928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tep tag text"/>
          <p:cNvSpPr txBox="1"/>
          <p:nvPr/>
        </p:nvSpPr>
        <p:spPr>
          <a:xfrm>
            <a:off x="457200" y="47548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3474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 보조, 제안 검토, OK 이미지</a:t>
            </a:r>
            <a:endParaRPr lang="en-US" sz="3000" dirty="0"/>
          </a:p>
        </p:txBody>
      </p:sp>
      <p:sp>
        <p:nvSpPr>
          <p:cNvPr id="5" name="라벨·제안 목록 frame"/>
          <p:cNvSpPr/>
          <p:nvPr/>
        </p:nvSpPr>
        <p:spPr>
          <a:xfrm>
            <a:off x="686120" y="1225296"/>
            <a:ext cx="1736720" cy="5047488"/>
          </a:xfrm>
          <a:prstGeom prst="rect">
            <a:avLst/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라벨·제안 목록" descr="라벨·제안 목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984" y="1280160"/>
            <a:ext cx="1626992" cy="4937760"/>
          </a:xfrm>
          <a:prstGeom prst="rect">
            <a:avLst/>
          </a:prstGeom>
        </p:spPr>
      </p:pic>
      <p:sp>
        <p:nvSpPr>
          <p:cNvPr id="7" name="OK 이미지 필터 frame"/>
          <p:cNvSpPr/>
          <p:nvPr/>
        </p:nvSpPr>
        <p:spPr>
          <a:xfrm>
            <a:off x="2792011" y="1225296"/>
            <a:ext cx="2462698" cy="2761488"/>
          </a:xfrm>
          <a:prstGeom prst="rect">
            <a:avLst/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OK 이미지 필터" descr="OK 이미지 필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875" y="1280160"/>
            <a:ext cx="2352970" cy="2651760"/>
          </a:xfrm>
          <a:prstGeom prst="rect">
            <a:avLst/>
          </a:prstGeom>
        </p:spPr>
      </p:pic>
      <p:sp>
        <p:nvSpPr>
          <p:cNvPr id="9" name="badge 1"/>
          <p:cNvSpPr/>
          <p:nvPr/>
        </p:nvSpPr>
        <p:spPr>
          <a:xfrm>
            <a:off x="5577840" y="129844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badge 1 text"/>
          <p:cNvSpPr txBox="1"/>
          <p:nvPr/>
        </p:nvSpPr>
        <p:spPr>
          <a:xfrm>
            <a:off x="557784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row 1"/>
          <p:cNvSpPr txBox="1"/>
          <p:nvPr/>
        </p:nvSpPr>
        <p:spPr>
          <a:xfrm>
            <a:off x="6080760" y="1243584"/>
            <a:ext cx="5669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 키로 SAM 보조 켜기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처음 한 번 모델(약 39 MB)을 받습니다. 이미지 준비 1~2초 (M1).</a:t>
            </a:r>
            <a:endParaRPr lang="en-US" sz="1600" dirty="0"/>
          </a:p>
        </p:txBody>
      </p:sp>
      <p:sp>
        <p:nvSpPr>
          <p:cNvPr id="12" name="badge 2"/>
          <p:cNvSpPr/>
          <p:nvPr/>
        </p:nvSpPr>
        <p:spPr>
          <a:xfrm>
            <a:off x="5577840" y="2322576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badge 2 text"/>
          <p:cNvSpPr txBox="1"/>
          <p:nvPr/>
        </p:nvSpPr>
        <p:spPr>
          <a:xfrm>
            <a:off x="557784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row 2"/>
          <p:cNvSpPr txBox="1"/>
          <p:nvPr/>
        </p:nvSpPr>
        <p:spPr>
          <a:xfrm>
            <a:off x="6080760" y="2267712"/>
            <a:ext cx="5669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결함을 클릭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클릭 = 포함, 우클릭 = 제외, 드래그 = 박스. 제안이 점선 + '제안' 태그로 나타납니다.</a:t>
            </a:r>
            <a:endParaRPr lang="en-US" sz="1600" dirty="0"/>
          </a:p>
        </p:txBody>
      </p:sp>
      <p:sp>
        <p:nvSpPr>
          <p:cNvPr id="15" name="badge 3"/>
          <p:cNvSpPr/>
          <p:nvPr/>
        </p:nvSpPr>
        <p:spPr>
          <a:xfrm>
            <a:off x="5577840" y="3346704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badge 3 text"/>
          <p:cNvSpPr txBox="1"/>
          <p:nvPr/>
        </p:nvSpPr>
        <p:spPr>
          <a:xfrm>
            <a:off x="557784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row 3"/>
          <p:cNvSpPr txBox="1"/>
          <p:nvPr/>
        </p:nvSpPr>
        <p:spPr>
          <a:xfrm>
            <a:off x="6080760" y="3291840"/>
            <a:ext cx="5669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제안 확정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Enter 수락 · Backspace 거절 · 'score ≥ 값'으로 한 번에 수락. 제안은 확정 전까지 학습에 쓰이지 않습니다.</a:t>
            </a:r>
            <a:endParaRPr lang="en-US" sz="1600" dirty="0"/>
          </a:p>
        </p:txBody>
      </p:sp>
      <p:sp>
        <p:nvSpPr>
          <p:cNvPr id="18" name="badge 4"/>
          <p:cNvSpPr/>
          <p:nvPr/>
        </p:nvSpPr>
        <p:spPr>
          <a:xfrm>
            <a:off x="5577840" y="4370832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badge 4 text"/>
          <p:cNvSpPr txBox="1"/>
          <p:nvPr/>
        </p:nvSpPr>
        <p:spPr>
          <a:xfrm>
            <a:off x="5577840" y="4370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row 4"/>
          <p:cNvSpPr txBox="1"/>
          <p:nvPr/>
        </p:nvSpPr>
        <p:spPr>
          <a:xfrm>
            <a:off x="6080760" y="4315968"/>
            <a:ext cx="5669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결함 없는 이미지는 OK로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O 키 또는 목록 우클릭 → 'OK 이미지 표시/해제'. 배경(정상) 샘플로 학습됩니다.</a:t>
            </a:r>
            <a:endParaRPr lang="en-US" sz="1600" dirty="0"/>
          </a:p>
        </p:txBody>
      </p:sp>
      <p:sp>
        <p:nvSpPr>
          <p:cNvPr id="21" name="note box"/>
          <p:cNvSpPr/>
          <p:nvPr/>
        </p:nvSpPr>
        <p:spPr>
          <a:xfrm>
            <a:off x="2834640" y="4206240"/>
            <a:ext cx="23774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note text"/>
          <p:cNvSpPr txBox="1"/>
          <p:nvPr/>
        </p:nvSpPr>
        <p:spPr>
          <a:xfrm>
            <a:off x="3017520" y="4206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라벨은 30초마다, 이미지를 바꿀 때, ⌘S에 자동 저장됩니다.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475488"/>
            <a:ext cx="566928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tep tag text"/>
          <p:cNvSpPr txBox="1"/>
          <p:nvPr/>
        </p:nvSpPr>
        <p:spPr>
          <a:xfrm>
            <a:off x="457200" y="47548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3474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증강과 데이터셋 빌드</a:t>
            </a:r>
            <a:endParaRPr lang="en-US" sz="3000" dirty="0"/>
          </a:p>
        </p:txBody>
      </p:sp>
      <p:sp>
        <p:nvSpPr>
          <p:cNvPr id="5" name="Augment 탭 frame"/>
          <p:cNvSpPr/>
          <p:nvPr/>
        </p:nvSpPr>
        <p:spPr>
          <a:xfrm>
            <a:off x="503000" y="1225296"/>
            <a:ext cx="3291680" cy="5093208"/>
          </a:xfrm>
          <a:prstGeom prst="rect">
            <a:avLst/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Augment 탭" descr="Augment 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64" y="1280160"/>
            <a:ext cx="3181952" cy="4983480"/>
          </a:xfrm>
          <a:prstGeom prst="rect">
            <a:avLst/>
          </a:prstGeom>
        </p:spPr>
      </p:pic>
      <p:sp>
        <p:nvSpPr>
          <p:cNvPr id="7" name="badge 1"/>
          <p:cNvSpPr/>
          <p:nvPr/>
        </p:nvSpPr>
        <p:spPr>
          <a:xfrm>
            <a:off x="4206240" y="134416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badge 1 text"/>
          <p:cNvSpPr txBox="1"/>
          <p:nvPr/>
        </p:nvSpPr>
        <p:spPr>
          <a:xfrm>
            <a:off x="420624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row 1"/>
          <p:cNvSpPr txBox="1"/>
          <p:nvPr/>
        </p:nvSpPr>
        <p:spPr>
          <a:xfrm>
            <a:off x="4709160" y="1289304"/>
            <a:ext cx="704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프리셋 고르기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약함 · 보통 · 강함 · 금속 표면 · PCB. 변환마다 켜기/끄기, 강도, 확률을 바꿀 수 있습니다.</a:t>
            </a:r>
            <a:endParaRPr lang="en-US" sz="1600" dirty="0"/>
          </a:p>
        </p:txBody>
      </p:sp>
      <p:sp>
        <p:nvSpPr>
          <p:cNvPr id="10" name="badge 2"/>
          <p:cNvSpPr/>
          <p:nvPr/>
        </p:nvSpPr>
        <p:spPr>
          <a:xfrm>
            <a:off x="4206240" y="244144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badge 2 text"/>
          <p:cNvSpPr txBox="1"/>
          <p:nvPr/>
        </p:nvSpPr>
        <p:spPr>
          <a:xfrm>
            <a:off x="420624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row 2"/>
          <p:cNvSpPr txBox="1"/>
          <p:nvPr/>
        </p:nvSpPr>
        <p:spPr>
          <a:xfrm>
            <a:off x="4709160" y="2386584"/>
            <a:ext cx="704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미리보기 9장 확인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현재 이미지로 증강 결과와 라벨 위치를 봅니다. '다시 뽑기'로 새로 뽑기.</a:t>
            </a:r>
            <a:endParaRPr lang="en-US" sz="1600" dirty="0"/>
          </a:p>
        </p:txBody>
      </p:sp>
      <p:sp>
        <p:nvSpPr>
          <p:cNvPr id="13" name="badge 3"/>
          <p:cNvSpPr/>
          <p:nvPr/>
        </p:nvSpPr>
        <p:spPr>
          <a:xfrm>
            <a:off x="4206240" y="353872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badge 3 text"/>
          <p:cNvSpPr txBox="1"/>
          <p:nvPr/>
        </p:nvSpPr>
        <p:spPr>
          <a:xfrm>
            <a:off x="420624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row 3"/>
          <p:cNvSpPr txBox="1"/>
          <p:nvPr/>
        </p:nvSpPr>
        <p:spPr>
          <a:xfrm>
            <a:off x="4709160" y="3483864"/>
            <a:ext cx="704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Full 또는 Crop 고르고 '데이터셋 빌드'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Full = 원본 전체 이미지, Crop = 결함 주변을 잘라낸 이미지 (다음 장).</a:t>
            </a:r>
            <a:endParaRPr lang="en-US" sz="1600" dirty="0"/>
          </a:p>
        </p:txBody>
      </p:sp>
      <p:sp>
        <p:nvSpPr>
          <p:cNvPr id="16" name="rules head"/>
          <p:cNvSpPr txBox="1"/>
          <p:nvPr/>
        </p:nvSpPr>
        <p:spPr>
          <a:xfrm>
            <a:off x="420624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빌드 규칙</a:t>
            </a:r>
            <a:endParaRPr lang="en-US" sz="1600" dirty="0"/>
          </a:p>
        </p:txBody>
      </p:sp>
      <p:sp>
        <p:nvSpPr>
          <p:cNvPr id="17" name="rules"/>
          <p:cNvSpPr txBox="1"/>
          <p:nvPr/>
        </p:nvSpPr>
        <p:spPr>
          <a:xfrm>
            <a:off x="4206240" y="4983480"/>
            <a:ext cx="7543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확정 라벨이 있는 이미지와 OK 이미지만 들어갑니다 (미라벨·제안만 있는 이미지는 제외)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Train/Val은 원본 이미지 단위로 먼저 나누고, Train만 증강합니다 (Val 결함 이미지 1장 이상 필요)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475488"/>
            <a:ext cx="566928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tep tag text"/>
          <p:cNvSpPr txBox="1"/>
          <p:nvPr/>
        </p:nvSpPr>
        <p:spPr>
          <a:xfrm>
            <a:off x="457200" y="47548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3474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작은 결함에는 Crop 데이터셋</a:t>
            </a:r>
            <a:endParaRPr lang="en-US" sz="3000" dirty="0"/>
          </a:p>
        </p:txBody>
      </p:sp>
      <p:sp>
        <p:nvSpPr>
          <p:cNvPr id="5" name="full image"/>
          <p:cNvSpPr/>
          <p:nvPr/>
        </p:nvSpPr>
        <p:spPr>
          <a:xfrm>
            <a:off x="640080" y="1417320"/>
            <a:ext cx="5120640" cy="3840480"/>
          </a:xfrm>
          <a:prstGeom prst="rect">
            <a:avLst/>
          </a:prstGeom>
          <a:solidFill>
            <a:srgbClr val="D9DEE3"/>
          </a:solidFill>
          <a:ln w="12700">
            <a:solidFill>
              <a:srgbClr val="AEB8C2"/>
            </a:solidFill>
            <a:prstDash val="solid"/>
          </a:ln>
        </p:spPr>
      </p:sp>
      <p:sp>
        <p:nvSpPr>
          <p:cNvPr id="6" name="full caption"/>
          <p:cNvSpPr txBox="1"/>
          <p:nvPr/>
        </p:nvSpPr>
        <p:spPr>
          <a:xfrm>
            <a:off x="640080" y="53309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원본 이미지 (예: 4000 × 3000)</a:t>
            </a:r>
            <a:endParaRPr lang="en-US" sz="1200" dirty="0"/>
          </a:p>
        </p:txBody>
      </p:sp>
      <p:sp>
        <p:nvSpPr>
          <p:cNvPr id="7" name="defect 1"/>
          <p:cNvSpPr/>
          <p:nvPr/>
        </p:nvSpPr>
        <p:spPr>
          <a:xfrm>
            <a:off x="1828800" y="2514600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defect 2"/>
          <p:cNvSpPr/>
          <p:nvPr/>
        </p:nvSpPr>
        <p:spPr>
          <a:xfrm>
            <a:off x="4206240" y="3886200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window 1"/>
          <p:cNvSpPr/>
          <p:nvPr/>
        </p:nvSpPr>
        <p:spPr>
          <a:xfrm>
            <a:off x="1417320" y="2103120"/>
            <a:ext cx="1097280" cy="1097280"/>
          </a:xfrm>
          <a:prstGeom prst="rect">
            <a:avLst/>
          </a:prstGeom>
          <a:ln w="28575">
            <a:solidFill>
              <a:schemeClr val="accent1"/>
            </a:solidFill>
            <a:prstDash val="solid"/>
          </a:ln>
        </p:spPr>
      </p:sp>
      <p:sp>
        <p:nvSpPr>
          <p:cNvPr id="10" name="window 1 label"/>
          <p:cNvSpPr txBox="1"/>
          <p:nvPr/>
        </p:nvSpPr>
        <p:spPr>
          <a:xfrm>
            <a:off x="1417320" y="1810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결함 중심</a:t>
            </a:r>
            <a:endParaRPr lang="en-US" sz="1200" dirty="0"/>
          </a:p>
        </p:txBody>
      </p:sp>
      <p:sp>
        <p:nvSpPr>
          <p:cNvPr id="11" name="window 2"/>
          <p:cNvSpPr/>
          <p:nvPr/>
        </p:nvSpPr>
        <p:spPr>
          <a:xfrm>
            <a:off x="3794760" y="3474720"/>
            <a:ext cx="1097280" cy="1097280"/>
          </a:xfrm>
          <a:prstGeom prst="rect">
            <a:avLst/>
          </a:prstGeom>
          <a:ln w="28575">
            <a:solidFill>
              <a:schemeClr val="accent1"/>
            </a:solidFill>
            <a:prstDash val="solid"/>
          </a:ln>
        </p:spPr>
      </p:sp>
      <p:sp>
        <p:nvSpPr>
          <p:cNvPr id="12" name="window 3"/>
          <p:cNvSpPr/>
          <p:nvPr/>
        </p:nvSpPr>
        <p:spPr>
          <a:xfrm>
            <a:off x="3017520" y="1737360"/>
            <a:ext cx="1097280" cy="1097280"/>
          </a:xfrm>
          <a:prstGeom prst="rect">
            <a:avLst/>
          </a:prstGeom>
          <a:ln w="28575">
            <a:solidFill>
              <a:schemeClr val="accent3"/>
            </a:solidFill>
            <a:prstDash val="solid"/>
          </a:ln>
        </p:spPr>
      </p:sp>
      <p:sp>
        <p:nvSpPr>
          <p:cNvPr id="13" name="window 3 label"/>
          <p:cNvSpPr txBox="1"/>
          <p:nvPr/>
        </p:nvSpPr>
        <p:spPr>
          <a:xfrm>
            <a:off x="3017520" y="1444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배경</a:t>
            </a:r>
            <a:endParaRPr lang="en-US" sz="1200" dirty="0"/>
          </a:p>
        </p:txBody>
      </p:sp>
      <p:sp>
        <p:nvSpPr>
          <p:cNvPr id="14" name="window 4"/>
          <p:cNvSpPr/>
          <p:nvPr/>
        </p:nvSpPr>
        <p:spPr>
          <a:xfrm>
            <a:off x="960120" y="3749040"/>
            <a:ext cx="1463040" cy="1463040"/>
          </a:xfrm>
          <a:prstGeom prst="rect">
            <a:avLst/>
          </a:prstGeom>
          <a:ln w="28575">
            <a:solidFill>
              <a:schemeClr val="accent2"/>
            </a:solidFill>
            <a:prstDash val="dash"/>
          </a:ln>
        </p:spPr>
      </p:sp>
      <p:sp>
        <p:nvSpPr>
          <p:cNvPr id="15" name="window 4 label"/>
          <p:cNvSpPr txBox="1"/>
          <p:nvPr/>
        </p:nvSpPr>
        <p:spPr>
          <a:xfrm>
            <a:off x="960120" y="3456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수동 ROI</a:t>
            </a:r>
            <a:endParaRPr lang="en-US" sz="1200" dirty="0"/>
          </a:p>
        </p:txBody>
      </p:sp>
      <p:sp>
        <p:nvSpPr>
          <p:cNvPr id="16" name="badge 1"/>
          <p:cNvSpPr/>
          <p:nvPr/>
        </p:nvSpPr>
        <p:spPr>
          <a:xfrm>
            <a:off x="6217920" y="138988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badge 1 text"/>
          <p:cNvSpPr txBox="1"/>
          <p:nvPr/>
        </p:nvSpPr>
        <p:spPr>
          <a:xfrm>
            <a:off x="621792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row 1"/>
          <p:cNvSpPr txBox="1"/>
          <p:nvPr/>
        </p:nvSpPr>
        <p:spPr>
          <a:xfrm>
            <a:off x="6720840" y="1335024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Crop 방식 고르기 (Augment 탭 아래)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수동 ROI · 결함 중심 · 배경 · 슬라이딩 타일. ATT-YOLO 1280 타일 프리셋도 있습니다.</a:t>
            </a:r>
            <a:endParaRPr lang="en-US" sz="1600" dirty="0"/>
          </a:p>
        </p:txBody>
      </p:sp>
      <p:sp>
        <p:nvSpPr>
          <p:cNvPr id="19" name="badge 2"/>
          <p:cNvSpPr/>
          <p:nvPr/>
        </p:nvSpPr>
        <p:spPr>
          <a:xfrm>
            <a:off x="6217920" y="248716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badge 2 text"/>
          <p:cNvSpPr txBox="1"/>
          <p:nvPr/>
        </p:nvSpPr>
        <p:spPr>
          <a:xfrm>
            <a:off x="621792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row 2"/>
          <p:cNvSpPr txBox="1"/>
          <p:nvPr/>
        </p:nvSpPr>
        <p:spPr>
          <a:xfrm>
            <a:off x="6720840" y="2432304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 도구로 ROI 그리기 (선택)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이 이미지에만, 또는 '모든 이미지에 적용'(고정 지그). 고정 크기 ROI도 됩니다.</a:t>
            </a:r>
            <a:endParaRPr lang="en-US" sz="1600" dirty="0"/>
          </a:p>
        </p:txBody>
      </p:sp>
      <p:sp>
        <p:nvSpPr>
          <p:cNvPr id="22" name="badge 3"/>
          <p:cNvSpPr/>
          <p:nvPr/>
        </p:nvSpPr>
        <p:spPr>
          <a:xfrm>
            <a:off x="6217920" y="358444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3" name="badge 3 text"/>
          <p:cNvSpPr txBox="1"/>
          <p:nvPr/>
        </p:nvSpPr>
        <p:spPr>
          <a:xfrm>
            <a:off x="621792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row 3"/>
          <p:cNvSpPr txBox="1"/>
          <p:nvPr/>
        </p:nvSpPr>
        <p:spPr>
          <a:xfrm>
            <a:off x="6720840" y="3529584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Crop으로 빌드하고 Crop 데이터셋으로 학습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같은 원본은 Full과 같은 쪽(Train/Val)에 들어갑니다.</a:t>
            </a:r>
            <a:endParaRPr lang="en-US" sz="1600" dirty="0"/>
          </a:p>
        </p:txBody>
      </p:sp>
      <p:sp>
        <p:nvSpPr>
          <p:cNvPr id="25" name="note box"/>
          <p:cNvSpPr/>
          <p:nvPr/>
        </p:nvSpPr>
        <p:spPr>
          <a:xfrm>
            <a:off x="6217920" y="4846320"/>
            <a:ext cx="5532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note text"/>
          <p:cNvSpPr txBox="1"/>
          <p:nvPr/>
        </p:nvSpPr>
        <p:spPr>
          <a:xfrm>
            <a:off x="6400800" y="484632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Crop 모델은 결과 확인·비교·내보내기에서 자동으로 타일링 추론(겹치게 잘라 추론 후 합치기)을 씁니다.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475488"/>
            <a:ext cx="566928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tep tag text"/>
          <p:cNvSpPr txBox="1"/>
          <p:nvPr/>
        </p:nvSpPr>
        <p:spPr>
          <a:xfrm>
            <a:off x="457200" y="47548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3474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학습</a:t>
            </a:r>
            <a:endParaRPr lang="en-US" sz="3000" dirty="0"/>
          </a:p>
        </p:txBody>
      </p:sp>
      <p:sp>
        <p:nvSpPr>
          <p:cNvPr id="5" name="Train 탭 frame"/>
          <p:cNvSpPr/>
          <p:nvPr/>
        </p:nvSpPr>
        <p:spPr>
          <a:xfrm>
            <a:off x="503000" y="1225296"/>
            <a:ext cx="3291680" cy="5093208"/>
          </a:xfrm>
          <a:prstGeom prst="rect">
            <a:avLst/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Train 탭" descr="Train 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64" y="1280160"/>
            <a:ext cx="3181952" cy="4983480"/>
          </a:xfrm>
          <a:prstGeom prst="rect">
            <a:avLst/>
          </a:prstGeom>
        </p:spPr>
      </p:pic>
      <p:sp>
        <p:nvSpPr>
          <p:cNvPr id="7" name="badge 1"/>
          <p:cNvSpPr/>
          <p:nvPr/>
        </p:nvSpPr>
        <p:spPr>
          <a:xfrm>
            <a:off x="4206240" y="134416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badge 1 text"/>
          <p:cNvSpPr txBox="1"/>
          <p:nvPr/>
        </p:nvSpPr>
        <p:spPr>
          <a:xfrm>
            <a:off x="420624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row 1"/>
          <p:cNvSpPr txBox="1"/>
          <p:nvPr/>
        </p:nvSpPr>
        <p:spPr>
          <a:xfrm>
            <a:off x="4709160" y="1289304"/>
            <a:ext cx="40690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모델과 데이터셋 (Full / Crop)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yolo11n(빠름) · yolo11s(기본) · yolo11m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ATT-YOLO n/s: 작은 결함용 (1280px)</a:t>
            </a:r>
            <a:endParaRPr lang="en-US" sz="1600" dirty="0"/>
          </a:p>
        </p:txBody>
      </p:sp>
      <p:sp>
        <p:nvSpPr>
          <p:cNvPr id="10" name="badge 2"/>
          <p:cNvSpPr/>
          <p:nvPr/>
        </p:nvSpPr>
        <p:spPr>
          <a:xfrm>
            <a:off x="4206240" y="239572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badge 2 text"/>
          <p:cNvSpPr txBox="1"/>
          <p:nvPr/>
        </p:nvSpPr>
        <p:spPr>
          <a:xfrm>
            <a:off x="420624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row 2"/>
          <p:cNvSpPr txBox="1"/>
          <p:nvPr/>
        </p:nvSpPr>
        <p:spPr>
          <a:xfrm>
            <a:off x="4709160" y="2340864"/>
            <a:ext cx="40690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epochs · 이미지 크기 · batch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모델을 바꾸면 권장값이 들어갑니다.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장치 '자동' = Apple GPU → NVIDIA GPU → CPU</a:t>
            </a:r>
            <a:endParaRPr lang="en-US" sz="1600" dirty="0"/>
          </a:p>
        </p:txBody>
      </p:sp>
      <p:sp>
        <p:nvSpPr>
          <p:cNvPr id="13" name="badge 3"/>
          <p:cNvSpPr/>
          <p:nvPr/>
        </p:nvSpPr>
        <p:spPr>
          <a:xfrm>
            <a:off x="4206240" y="344728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badge 3 text"/>
          <p:cNvSpPr txBox="1"/>
          <p:nvPr/>
        </p:nvSpPr>
        <p:spPr>
          <a:xfrm>
            <a:off x="420624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row 3"/>
          <p:cNvSpPr txBox="1"/>
          <p:nvPr/>
        </p:nvSpPr>
        <p:spPr>
          <a:xfrm>
            <a:off x="4709160" y="3392424"/>
            <a:ext cx="40690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학습 시작 → 그래프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loss와 검증 지표(Precision · Recall · mAP)가 epoch마다 그려집니다.</a:t>
            </a:r>
            <a:endParaRPr lang="en-US" sz="1600" dirty="0"/>
          </a:p>
        </p:txBody>
      </p:sp>
      <p:sp>
        <p:nvSpPr>
          <p:cNvPr id="16" name="badge 4"/>
          <p:cNvSpPr/>
          <p:nvPr/>
        </p:nvSpPr>
        <p:spPr>
          <a:xfrm>
            <a:off x="4206240" y="449884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badge 4 text"/>
          <p:cNvSpPr txBox="1"/>
          <p:nvPr/>
        </p:nvSpPr>
        <p:spPr>
          <a:xfrm>
            <a:off x="4206240" y="4498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row 4"/>
          <p:cNvSpPr txBox="1"/>
          <p:nvPr/>
        </p:nvSpPr>
        <p:spPr>
          <a:xfrm>
            <a:off x="4709160" y="4443984"/>
            <a:ext cx="40690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중지 → 재개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중지하면 마지막 epoch부터 '선택한 run 재개'. 앱을 꺼도 학습 이력이 남습니다.</a:t>
            </a:r>
            <a:endParaRPr lang="en-US" sz="1600" dirty="0"/>
          </a:p>
        </p:txBody>
      </p:sp>
      <p:sp>
        <p:nvSpPr>
          <p:cNvPr id="19" name="stat 1"/>
          <p:cNvSpPr/>
          <p:nvPr/>
        </p:nvSpPr>
        <p:spPr>
          <a:xfrm>
            <a:off x="9098280" y="1417320"/>
            <a:ext cx="265176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at 1 value"/>
          <p:cNvSpPr txBox="1"/>
          <p:nvPr/>
        </p:nvSpPr>
        <p:spPr>
          <a:xfrm>
            <a:off x="9098280" y="1554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1.8×</a:t>
            </a:r>
            <a:endParaRPr lang="en-US" sz="4400" dirty="0"/>
          </a:p>
        </p:txBody>
      </p:sp>
      <p:sp>
        <p:nvSpPr>
          <p:cNvPr id="21" name="stat 1 label"/>
          <p:cNvSpPr txBox="1"/>
          <p:nvPr/>
        </p:nvSpPr>
        <p:spPr>
          <a:xfrm>
            <a:off x="9189720" y="2468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M1에서 MPS가 CPU보다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빠른 학습 (yolo11n 640px)</a:t>
            </a:r>
            <a:endParaRPr lang="en-US" sz="1200" dirty="0"/>
          </a:p>
        </p:txBody>
      </p:sp>
      <p:sp>
        <p:nvSpPr>
          <p:cNvPr id="22" name="stat 2"/>
          <p:cNvSpPr/>
          <p:nvPr/>
        </p:nvSpPr>
        <p:spPr>
          <a:xfrm>
            <a:off x="9098280" y="3566160"/>
            <a:ext cx="265176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tat 2 value"/>
          <p:cNvSpPr txBox="1"/>
          <p:nvPr/>
        </p:nvSpPr>
        <p:spPr>
          <a:xfrm>
            <a:off x="9098280" y="3703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10 s</a:t>
            </a:r>
            <a:endParaRPr lang="en-US" sz="4400" dirty="0"/>
          </a:p>
        </p:txBody>
      </p:sp>
      <p:sp>
        <p:nvSpPr>
          <p:cNvPr id="24" name="stat 2 label"/>
          <p:cNvSpPr txBox="1"/>
          <p:nvPr/>
        </p:nvSpPr>
        <p:spPr>
          <a:xfrm>
            <a:off x="9189720" y="46177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yolo11n epoch당 시간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(학습 이미지 92장, M1 MPS)</a:t>
            </a:r>
            <a:endParaRPr lang="en-US" sz="1200" dirty="0"/>
          </a:p>
        </p:txBody>
      </p:sp>
      <p:sp>
        <p:nvSpPr>
          <p:cNvPr id="25" name="stat source"/>
          <p:cNvSpPr txBox="1"/>
          <p:nvPr/>
        </p:nvSpPr>
        <p:spPr>
          <a:xfrm>
            <a:off x="9098280" y="5806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측정: docs/mac_checklist_tested.md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475488"/>
            <a:ext cx="566928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tep tag text"/>
          <p:cNvSpPr txBox="1"/>
          <p:nvPr/>
        </p:nvSpPr>
        <p:spPr>
          <a:xfrm>
            <a:off x="457200" y="47548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3474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결과 확인과 자동 라벨 제안</a:t>
            </a:r>
            <a:endParaRPr lang="en-US" sz="3000" dirty="0"/>
          </a:p>
        </p:txBody>
      </p:sp>
      <p:sp>
        <p:nvSpPr>
          <p:cNvPr id="5" name="Result 탭 frame"/>
          <p:cNvSpPr/>
          <p:nvPr/>
        </p:nvSpPr>
        <p:spPr>
          <a:xfrm>
            <a:off x="503000" y="1225296"/>
            <a:ext cx="3291680" cy="5093208"/>
          </a:xfrm>
          <a:prstGeom prst="rect">
            <a:avLst/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Result 탭" descr="Result 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64" y="1280160"/>
            <a:ext cx="3181952" cy="4983480"/>
          </a:xfrm>
          <a:prstGeom prst="rect">
            <a:avLst/>
          </a:prstGeom>
        </p:spPr>
      </p:pic>
      <p:sp>
        <p:nvSpPr>
          <p:cNvPr id="7" name="badge 1"/>
          <p:cNvSpPr/>
          <p:nvPr/>
        </p:nvSpPr>
        <p:spPr>
          <a:xfrm>
            <a:off x="4206240" y="134416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badge 1 text"/>
          <p:cNvSpPr txBox="1"/>
          <p:nvPr/>
        </p:nvSpPr>
        <p:spPr>
          <a:xfrm>
            <a:off x="420624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row 1"/>
          <p:cNvSpPr txBox="1"/>
          <p:nvPr/>
        </p:nvSpPr>
        <p:spPr>
          <a:xfrm>
            <a:off x="4709160" y="1289304"/>
            <a:ext cx="7040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검증 이미지 평가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Val 이미지마다 정답(파랑)과 예측(주황). 맞음 · 오검 · 미검 수와 precision · recall.</a:t>
            </a:r>
            <a:endParaRPr lang="en-US" sz="1600" dirty="0"/>
          </a:p>
        </p:txBody>
      </p:sp>
      <p:sp>
        <p:nvSpPr>
          <p:cNvPr id="10" name="badge 2"/>
          <p:cNvSpPr/>
          <p:nvPr/>
        </p:nvSpPr>
        <p:spPr>
          <a:xfrm>
            <a:off x="4206240" y="2368296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badge 2 text"/>
          <p:cNvSpPr txBox="1"/>
          <p:nvPr/>
        </p:nvSpPr>
        <p:spPr>
          <a:xfrm>
            <a:off x="4206240" y="2368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row 2"/>
          <p:cNvSpPr txBox="1"/>
          <p:nvPr/>
        </p:nvSpPr>
        <p:spPr>
          <a:xfrm>
            <a:off x="4709160" y="2313432"/>
            <a:ext cx="7040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conf 슬라이더와 필터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다시 예측하지 않고 바로 거릅니다. 오검·미검만 보기, 더블클릭하면 캔버스에서 라벨 수정.</a:t>
            </a:r>
            <a:endParaRPr lang="en-US" sz="1600" dirty="0"/>
          </a:p>
        </p:txBody>
      </p:sp>
      <p:sp>
        <p:nvSpPr>
          <p:cNvPr id="13" name="badge 3"/>
          <p:cNvSpPr/>
          <p:nvPr/>
        </p:nvSpPr>
        <p:spPr>
          <a:xfrm>
            <a:off x="4206240" y="3392424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badge 3 text"/>
          <p:cNvSpPr txBox="1"/>
          <p:nvPr/>
        </p:nvSpPr>
        <p:spPr>
          <a:xfrm>
            <a:off x="420624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row 3"/>
          <p:cNvSpPr txBox="1"/>
          <p:nvPr/>
        </p:nvSpPr>
        <p:spPr>
          <a:xfrm>
            <a:off x="4709160" y="3337560"/>
            <a:ext cx="7040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새 이미지로 시험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이미지를 탭에 끌어다 놓거나 '파일 열기'. Crop 모델은 자동 타일링 추론.</a:t>
            </a:r>
            <a:endParaRPr lang="en-US" sz="1600" dirty="0"/>
          </a:p>
        </p:txBody>
      </p:sp>
      <p:sp>
        <p:nvSpPr>
          <p:cNvPr id="16" name="badge 4"/>
          <p:cNvSpPr/>
          <p:nvPr/>
        </p:nvSpPr>
        <p:spPr>
          <a:xfrm>
            <a:off x="4206240" y="4416552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badge 4 text"/>
          <p:cNvSpPr txBox="1"/>
          <p:nvPr/>
        </p:nvSpPr>
        <p:spPr>
          <a:xfrm>
            <a:off x="4206240" y="4416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row 4"/>
          <p:cNvSpPr txBox="1"/>
          <p:nvPr/>
        </p:nvSpPr>
        <p:spPr>
          <a:xfrm>
            <a:off x="4709160" y="4361688"/>
            <a:ext cx="7040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미라벨 이미지에 제안 생성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학습한 모델이 라벨 제안을 만듭니다. 목록 필터 '제안 대기'에서 검토 (Enter / Backspace).</a:t>
            </a:r>
            <a:endParaRPr lang="en-US" sz="1600" dirty="0"/>
          </a:p>
        </p:txBody>
      </p:sp>
      <p:sp>
        <p:nvSpPr>
          <p:cNvPr id="19" name="note box"/>
          <p:cNvSpPr/>
          <p:nvPr/>
        </p:nvSpPr>
        <p:spPr>
          <a:xfrm>
            <a:off x="4206240" y="5486400"/>
            <a:ext cx="7543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ote text"/>
          <p:cNvSpPr txBox="1"/>
          <p:nvPr/>
        </p:nvSpPr>
        <p:spPr>
          <a:xfrm>
            <a:off x="4389120" y="5486400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'제안용 빠른 학습 (yolo11n)' = 데이터셋 빌드 → 30 epoch 학습 → 제안 생성을 한 번에 실행합니다.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475488"/>
            <a:ext cx="566928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tep tag text"/>
          <p:cNvSpPr txBox="1"/>
          <p:nvPr/>
        </p:nvSpPr>
        <p:spPr>
          <a:xfrm>
            <a:off x="457200" y="47548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3474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Full vs Crop 비교와 HTML 리포트</a:t>
            </a:r>
            <a:endParaRPr lang="en-US" sz="3000" dirty="0"/>
          </a:p>
        </p:txBody>
      </p:sp>
      <p:sp>
        <p:nvSpPr>
          <p:cNvPr id="5" name="Compare 탭 frame"/>
          <p:cNvSpPr/>
          <p:nvPr/>
        </p:nvSpPr>
        <p:spPr>
          <a:xfrm>
            <a:off x="503000" y="1225296"/>
            <a:ext cx="3291680" cy="5093208"/>
          </a:xfrm>
          <a:prstGeom prst="rect">
            <a:avLst/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Compare 탭" descr="Compare 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64" y="1280160"/>
            <a:ext cx="3181952" cy="4983480"/>
          </a:xfrm>
          <a:prstGeom prst="rect">
            <a:avLst/>
          </a:prstGeom>
        </p:spPr>
      </p:pic>
      <p:sp>
        <p:nvSpPr>
          <p:cNvPr id="7" name="HTML 리포트 frame"/>
          <p:cNvSpPr/>
          <p:nvPr/>
        </p:nvSpPr>
        <p:spPr>
          <a:xfrm>
            <a:off x="8494776" y="1225296"/>
            <a:ext cx="3310128" cy="3310128"/>
          </a:xfrm>
          <a:prstGeom prst="rect">
            <a:avLst/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HTML 리포트" descr="HTML 리포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280160"/>
            <a:ext cx="3200400" cy="3200400"/>
          </a:xfrm>
          <a:prstGeom prst="rect">
            <a:avLst/>
          </a:prstGeom>
        </p:spPr>
      </p:pic>
      <p:sp>
        <p:nvSpPr>
          <p:cNvPr id="9" name="badge 1"/>
          <p:cNvSpPr/>
          <p:nvPr/>
        </p:nvSpPr>
        <p:spPr>
          <a:xfrm>
            <a:off x="4206240" y="134416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badge 1 text"/>
          <p:cNvSpPr txBox="1"/>
          <p:nvPr/>
        </p:nvSpPr>
        <p:spPr>
          <a:xfrm>
            <a:off x="420624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row 1"/>
          <p:cNvSpPr txBox="1"/>
          <p:nvPr/>
        </p:nvSpPr>
        <p:spPr>
          <a:xfrm>
            <a:off x="4709160" y="1289304"/>
            <a:ext cx="35661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비교 학습 또는 run 체크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'Full + Crop 비교 학습' = 두 데이터셋 빌드 → 같은 설정으로 학습 → 비교. 끝난 run 2개 이상 체크 후 '비교'도 됩니다.</a:t>
            </a:r>
            <a:endParaRPr lang="en-US" sz="1600" dirty="0"/>
          </a:p>
        </p:txBody>
      </p:sp>
      <p:sp>
        <p:nvSpPr>
          <p:cNvPr id="12" name="badge 2"/>
          <p:cNvSpPr/>
          <p:nvPr/>
        </p:nvSpPr>
        <p:spPr>
          <a:xfrm>
            <a:off x="4206240" y="276148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badge 2 text"/>
          <p:cNvSpPr txBox="1"/>
          <p:nvPr/>
        </p:nvSpPr>
        <p:spPr>
          <a:xfrm>
            <a:off x="4206240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row 2"/>
          <p:cNvSpPr txBox="1"/>
          <p:nvPr/>
        </p:nvSpPr>
        <p:spPr>
          <a:xfrm>
            <a:off x="4709160" y="2706624"/>
            <a:ext cx="35661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같은 조건으로 다시 평가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모든 모델을 같은 Val 원본 이미지, 같은 conf · IoU로. 지표 표 · 그래프 · 예측 비교.</a:t>
            </a:r>
            <a:endParaRPr lang="en-US" sz="1600" dirty="0"/>
          </a:p>
        </p:txBody>
      </p:sp>
      <p:sp>
        <p:nvSpPr>
          <p:cNvPr id="15" name="badge 3"/>
          <p:cNvSpPr/>
          <p:nvPr/>
        </p:nvSpPr>
        <p:spPr>
          <a:xfrm>
            <a:off x="4206240" y="417880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badge 3 text"/>
          <p:cNvSpPr txBox="1"/>
          <p:nvPr/>
        </p:nvSpPr>
        <p:spPr>
          <a:xfrm>
            <a:off x="4206240" y="4178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row 3"/>
          <p:cNvSpPr txBox="1"/>
          <p:nvPr/>
        </p:nvSpPr>
        <p:spPr>
          <a:xfrm>
            <a:off x="4709160" y="4123944"/>
            <a:ext cx="35661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추천과 리포트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우선 지표(기본 mAP50-95)가 1%p 이내면 빠른 쪽 추천. '리포트' 탭 → HTML 리포트 저장.</a:t>
            </a:r>
            <a:endParaRPr lang="en-US" sz="1600" dirty="0"/>
          </a:p>
        </p:txBody>
      </p:sp>
      <p:sp>
        <p:nvSpPr>
          <p:cNvPr id="18" name="note box"/>
          <p:cNvSpPr/>
          <p:nvPr/>
        </p:nvSpPr>
        <p:spPr>
          <a:xfrm>
            <a:off x="8549640" y="4754880"/>
            <a:ext cx="32004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ote text"/>
          <p:cNvSpPr txBox="1"/>
          <p:nvPr/>
        </p:nvSpPr>
        <p:spPr>
          <a:xfrm>
            <a:off x="8732520" y="47548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리포트는 그래프·이미지가 든 HTML 파일 하나라 다른 PC 브라우저에서 바로 열립니다. 이력에서 '같은 설정으로 재실험'.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475488"/>
            <a:ext cx="566928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tep tag text"/>
          <p:cNvSpPr txBox="1"/>
          <p:nvPr/>
        </p:nvSpPr>
        <p:spPr>
          <a:xfrm>
            <a:off x="457200" y="47548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3474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모델 내보내기 (ONNX · CoreML)</a:t>
            </a:r>
            <a:endParaRPr lang="en-US" sz="3000" dirty="0"/>
          </a:p>
        </p:txBody>
      </p:sp>
      <p:sp>
        <p:nvSpPr>
          <p:cNvPr id="5" name="Export 탭 frame"/>
          <p:cNvSpPr/>
          <p:nvPr/>
        </p:nvSpPr>
        <p:spPr>
          <a:xfrm>
            <a:off x="503000" y="1225296"/>
            <a:ext cx="3291680" cy="5093208"/>
          </a:xfrm>
          <a:prstGeom prst="rect">
            <a:avLst/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Export 탭" descr="Export 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64" y="1280160"/>
            <a:ext cx="3181952" cy="4983480"/>
          </a:xfrm>
          <a:prstGeom prst="rect">
            <a:avLst/>
          </a:prstGeom>
        </p:spPr>
      </p:pic>
      <p:sp>
        <p:nvSpPr>
          <p:cNvPr id="7" name="badge 1"/>
          <p:cNvSpPr/>
          <p:nvPr/>
        </p:nvSpPr>
        <p:spPr>
          <a:xfrm>
            <a:off x="4206240" y="134416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badge 1 text"/>
          <p:cNvSpPr txBox="1"/>
          <p:nvPr/>
        </p:nvSpPr>
        <p:spPr>
          <a:xfrm>
            <a:off x="420624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row 1"/>
          <p:cNvSpPr txBox="1"/>
          <p:nvPr/>
        </p:nvSpPr>
        <p:spPr>
          <a:xfrm>
            <a:off x="4709160" y="1289304"/>
            <a:ext cx="704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run과 형식 고르기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ONNX(모든 OS) 또는 CoreML(.mlpackage, Mac · Neural Engine, 컬러 모델만).</a:t>
            </a:r>
            <a:endParaRPr lang="en-US" sz="1600" dirty="0"/>
          </a:p>
        </p:txBody>
      </p:sp>
      <p:sp>
        <p:nvSpPr>
          <p:cNvPr id="10" name="badge 2"/>
          <p:cNvSpPr/>
          <p:nvPr/>
        </p:nvSpPr>
        <p:spPr>
          <a:xfrm>
            <a:off x="4206240" y="244144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badge 2 text"/>
          <p:cNvSpPr txBox="1"/>
          <p:nvPr/>
        </p:nvSpPr>
        <p:spPr>
          <a:xfrm>
            <a:off x="420624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row 2"/>
          <p:cNvSpPr txBox="1"/>
          <p:nvPr/>
        </p:nvSpPr>
        <p:spPr>
          <a:xfrm>
            <a:off x="4709160" y="2386584"/>
            <a:ext cx="704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파일 이름 확인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기본 이름 &lt;프로젝트&gt;_&lt;full|crop&gt;_&lt;모델&gt;_&lt;날짜&gt;_&lt;시각&gt;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바꿀 수 있고, 금지 문자나 너무 긴 경로는 막습니다.</a:t>
            </a:r>
            <a:endParaRPr lang="en-US" sz="1600" dirty="0"/>
          </a:p>
        </p:txBody>
      </p:sp>
      <p:sp>
        <p:nvSpPr>
          <p:cNvPr id="13" name="badge 3"/>
          <p:cNvSpPr/>
          <p:nvPr/>
        </p:nvSpPr>
        <p:spPr>
          <a:xfrm>
            <a:off x="4206240" y="353872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badge 3 text"/>
          <p:cNvSpPr txBox="1"/>
          <p:nvPr/>
        </p:nvSpPr>
        <p:spPr>
          <a:xfrm>
            <a:off x="420624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row 3"/>
          <p:cNvSpPr txBox="1"/>
          <p:nvPr/>
        </p:nvSpPr>
        <p:spPr>
          <a:xfrm>
            <a:off x="4709160" y="3483864"/>
            <a:ext cx="7040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내보내기 → 자동 검증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원본 모델과 결과를 비교해 '검증 ✓ PASS'를 확인합니다.</a:t>
            </a:r>
            <a:endParaRPr lang="en-US" sz="1600" dirty="0"/>
          </a:p>
        </p:txBody>
      </p:sp>
      <p:sp>
        <p:nvSpPr>
          <p:cNvPr id="16" name="files head"/>
          <p:cNvSpPr txBox="1"/>
          <p:nvPr/>
        </p:nvSpPr>
        <p:spPr>
          <a:xfrm>
            <a:off x="420624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함께 저장되는 파일</a:t>
            </a:r>
            <a:endParaRPr lang="en-US" sz="1600" dirty="0"/>
          </a:p>
        </p:txBody>
      </p:sp>
      <p:sp>
        <p:nvSpPr>
          <p:cNvPr id="17" name="file 1"/>
          <p:cNvSpPr txBox="1"/>
          <p:nvPr/>
        </p:nvSpPr>
        <p:spPr>
          <a:xfrm>
            <a:off x="4206240" y="512064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&lt;이름&gt;.onnx / .mlpackage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모델</a:t>
            </a:r>
            <a:endParaRPr lang="en-US" sz="1300" dirty="0"/>
          </a:p>
        </p:txBody>
      </p:sp>
      <p:sp>
        <p:nvSpPr>
          <p:cNvPr id="18" name="file 2"/>
          <p:cNvSpPr txBox="1"/>
          <p:nvPr/>
        </p:nvSpPr>
        <p:spPr>
          <a:xfrm>
            <a:off x="4206240" y="5504688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&lt;이름&gt;.metadata.json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입력 크기 · 채널 · 전처리 · 타일 정보</a:t>
            </a:r>
            <a:endParaRPr lang="en-US" sz="1300" dirty="0"/>
          </a:p>
        </p:txBody>
      </p:sp>
      <p:sp>
        <p:nvSpPr>
          <p:cNvPr id="19" name="file 3"/>
          <p:cNvSpPr txBox="1"/>
          <p:nvPr/>
        </p:nvSpPr>
        <p:spPr>
          <a:xfrm>
            <a:off x="4206240" y="5888736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&lt;이름&gt;.classes.txt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클래스 이름 (줄마다 하나)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 tag"/>
          <p:cNvSpPr/>
          <p:nvPr/>
        </p:nvSpPr>
        <p:spPr>
          <a:xfrm>
            <a:off x="457200" y="475488"/>
            <a:ext cx="566928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topic icon" descr="키보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274320" cy="2743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3474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단축키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44068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파일·편집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Mac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Windows/Linux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7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새 프로젝트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⌘N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Ctrl+N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프로젝트 열기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⌘O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Ctrl+O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이미지 폴더 추가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⌘I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Ctrl+I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저장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⌘S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Ctrl+S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실행 취소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⌘Z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Ctrl+Z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다시 실행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⇧⌘Z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Ctrl+Y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화면에 맞춤 / 실제 크기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⌘0 / ⌘1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Ctrl+0 / Ctrl+1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이전 / 다음 이미지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A / 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A / D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OK 이미지 표시/해제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O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O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325880"/>
          <a:ext cx="544068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라벨링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Mac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Windows/Linux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7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BBox / Polygon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B / P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B / P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선택 / 지우개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V / 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V / 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Crop ROI / SAM 보조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C / 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C / 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클래스 선택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1 ~ 9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1 ~ 9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제안 수락 · 폴리곤 완료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Enter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Enter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제안 거절 · 마지막 점 삭제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delete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Backspace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선택한 라벨 삭제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delete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Delete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그리기 취소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Esc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Esc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화면 이동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스페이스+드래그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스페이스+드래그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 tag"/>
          <p:cNvSpPr/>
          <p:nvPr/>
        </p:nvSpPr>
        <p:spPr>
          <a:xfrm>
            <a:off x="457200" y="475488"/>
            <a:ext cx="566928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topic icon" descr="Ma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274320" cy="2743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3474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Mac (Apple Silicon)에서 쓰기</a:t>
            </a:r>
            <a:endParaRPr lang="en-US" sz="3000" dirty="0"/>
          </a:p>
        </p:txBody>
      </p:sp>
      <p:sp>
        <p:nvSpPr>
          <p:cNvPr id="5" name="mac stat 1"/>
          <p:cNvSpPr/>
          <p:nvPr/>
        </p:nvSpPr>
        <p:spPr>
          <a:xfrm>
            <a:off x="548640" y="137160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mac stat 1 value"/>
          <p:cNvSpPr txBox="1"/>
          <p:nvPr/>
        </p:nvSpPr>
        <p:spPr>
          <a:xfrm>
            <a:off x="548640" y="146304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1.8×</a:t>
            </a:r>
            <a:endParaRPr lang="en-US" sz="4800" dirty="0"/>
          </a:p>
        </p:txBody>
      </p:sp>
      <p:sp>
        <p:nvSpPr>
          <p:cNvPr id="7" name="mac stat 1 label"/>
          <p:cNvSpPr txBox="1"/>
          <p:nvPr/>
        </p:nvSpPr>
        <p:spPr>
          <a:xfrm>
            <a:off x="548640" y="2468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학습: MPS vs CPU</a:t>
            </a:r>
            <a:endParaRPr lang="en-US" sz="1400" dirty="0"/>
          </a:p>
        </p:txBody>
      </p:sp>
      <p:sp>
        <p:nvSpPr>
          <p:cNvPr id="8" name="mac stat 2"/>
          <p:cNvSpPr/>
          <p:nvPr/>
        </p:nvSpPr>
        <p:spPr>
          <a:xfrm>
            <a:off x="4343400" y="137160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c stat 2 value"/>
          <p:cNvSpPr txBox="1"/>
          <p:nvPr/>
        </p:nvSpPr>
        <p:spPr>
          <a:xfrm>
            <a:off x="4343400" y="146304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0.07 s</a:t>
            </a:r>
            <a:endParaRPr lang="en-US" sz="4800" dirty="0"/>
          </a:p>
        </p:txBody>
      </p:sp>
      <p:sp>
        <p:nvSpPr>
          <p:cNvPr id="10" name="mac stat 2 label"/>
          <p:cNvSpPr txBox="1"/>
          <p:nvPr/>
        </p:nvSpPr>
        <p:spPr>
          <a:xfrm>
            <a:off x="4343400" y="2468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SAM 클릭 → 제안</a:t>
            </a:r>
            <a:endParaRPr lang="en-US" sz="1400" dirty="0"/>
          </a:p>
        </p:txBody>
      </p:sp>
      <p:sp>
        <p:nvSpPr>
          <p:cNvPr id="11" name="mac stat 3"/>
          <p:cNvSpPr/>
          <p:nvPr/>
        </p:nvSpPr>
        <p:spPr>
          <a:xfrm>
            <a:off x="8138160" y="137160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c stat 3 value"/>
          <p:cNvSpPr txBox="1"/>
          <p:nvPr/>
        </p:nvSpPr>
        <p:spPr>
          <a:xfrm>
            <a:off x="8138160" y="146304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10 ms</a:t>
            </a:r>
            <a:endParaRPr lang="en-US" sz="4800" dirty="0"/>
          </a:p>
        </p:txBody>
      </p:sp>
      <p:sp>
        <p:nvSpPr>
          <p:cNvPr id="13" name="mac stat 3 label"/>
          <p:cNvSpPr txBox="1"/>
          <p:nvPr/>
        </p:nvSpPr>
        <p:spPr>
          <a:xfrm>
            <a:off x="8138160" y="2468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CoreML 추론 (640px)</a:t>
            </a:r>
            <a:endParaRPr lang="en-US" sz="1400" dirty="0"/>
          </a:p>
        </p:txBody>
      </p:sp>
      <p:sp>
        <p:nvSpPr>
          <p:cNvPr id="14" name="mac source"/>
          <p:cNvSpPr txBox="1"/>
          <p:nvPr/>
        </p:nvSpPr>
        <p:spPr>
          <a:xfrm>
            <a:off x="548640" y="3154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Apple M1 · 8 GB에서 측정</a:t>
            </a:r>
            <a:endParaRPr lang="en-US" sz="1000" dirty="0"/>
          </a:p>
        </p:txBody>
      </p:sp>
      <p:sp>
        <p:nvSpPr>
          <p:cNvPr id="15" name="badge 1"/>
          <p:cNvSpPr/>
          <p:nvPr/>
        </p:nvSpPr>
        <p:spPr>
          <a:xfrm>
            <a:off x="548640" y="381304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badge 1 text"/>
          <p:cNvSpPr txBox="1"/>
          <p:nvPr/>
        </p:nvSpPr>
        <p:spPr>
          <a:xfrm>
            <a:off x="548640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row 1"/>
          <p:cNvSpPr txBox="1"/>
          <p:nvPr/>
        </p:nvSpPr>
        <p:spPr>
          <a:xfrm>
            <a:off x="1051560" y="3758184"/>
            <a:ext cx="4983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장치는 '자동'으로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Apple GPU(MPS)를 씁니다. 상태바에 'GPU: Apple MPS'가 보이면 정상입니다.</a:t>
            </a:r>
            <a:endParaRPr lang="en-US" sz="1600" dirty="0"/>
          </a:p>
        </p:txBody>
      </p:sp>
      <p:sp>
        <p:nvSpPr>
          <p:cNvPr id="18" name="badge 2"/>
          <p:cNvSpPr/>
          <p:nvPr/>
        </p:nvSpPr>
        <p:spPr>
          <a:xfrm>
            <a:off x="548640" y="486460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badge 2 text"/>
          <p:cNvSpPr txBox="1"/>
          <p:nvPr/>
        </p:nvSpPr>
        <p:spPr>
          <a:xfrm>
            <a:off x="548640" y="4864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row 2"/>
          <p:cNvSpPr txBox="1"/>
          <p:nvPr/>
        </p:nvSpPr>
        <p:spPr>
          <a:xfrm>
            <a:off x="1051560" y="4809744"/>
            <a:ext cx="4983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설치본(.dmg) 처음 열기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개발자 서명이 없으면 경고가 뜹니다 → Finder에서 앱을 우클릭 → 열기.</a:t>
            </a:r>
            <a:endParaRPr lang="en-US" sz="1600" dirty="0"/>
          </a:p>
        </p:txBody>
      </p:sp>
      <p:sp>
        <p:nvSpPr>
          <p:cNvPr id="21" name="badge 3"/>
          <p:cNvSpPr/>
          <p:nvPr/>
        </p:nvSpPr>
        <p:spPr>
          <a:xfrm>
            <a:off x="6309360" y="381304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badge 3 text"/>
          <p:cNvSpPr txBox="1"/>
          <p:nvPr/>
        </p:nvSpPr>
        <p:spPr>
          <a:xfrm>
            <a:off x="6309360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row 1"/>
          <p:cNvSpPr txBox="1"/>
          <p:nvPr/>
        </p:nvSpPr>
        <p:spPr>
          <a:xfrm>
            <a:off x="6812280" y="3758184"/>
            <a:ext cx="49377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메모리 8 GB라면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큰 모델(yolo11m, 1280px)은 batch를 줄이세요. 첫 학습의 첫 epoch는 오래 걸릴 수 있습니다.</a:t>
            </a:r>
            <a:endParaRPr lang="en-US" sz="1600" dirty="0"/>
          </a:p>
        </p:txBody>
      </p:sp>
      <p:sp>
        <p:nvSpPr>
          <p:cNvPr id="24" name="badge 4"/>
          <p:cNvSpPr/>
          <p:nvPr/>
        </p:nvSpPr>
        <p:spPr>
          <a:xfrm>
            <a:off x="6309360" y="4864608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5" name="badge 4 text"/>
          <p:cNvSpPr txBox="1"/>
          <p:nvPr/>
        </p:nvSpPr>
        <p:spPr>
          <a:xfrm>
            <a:off x="6309360" y="4864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row 2"/>
          <p:cNvSpPr txBox="1"/>
          <p:nvPr/>
        </p:nvSpPr>
        <p:spPr>
          <a:xfrm>
            <a:off x="6812280" y="4809744"/>
            <a:ext cx="49377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설정·캐시 위치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~/Library/Preferences/com.defectlab.DefectLab.plist, ~/Library/Caches/DefectLab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 tag"/>
          <p:cNvSpPr/>
          <p:nvPr/>
        </p:nvSpPr>
        <p:spPr>
          <a:xfrm>
            <a:off x="457200" y="475488"/>
            <a:ext cx="566928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topic icon" descr="문제 해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274320" cy="2743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3474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문제가 생겼을 때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928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8001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증상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확인할 것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75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'데이터셋 빌드'가 안 됨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라벨이 확정된 결함 이미지가 2장 이상인지 (Val에 1장 이상 필요). 제안은 Enter로 확정해야 합니다.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학습 시작 버튼이 꺼져 있음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Augment 탭에서 고른 데이터셋(Full/Crop)을 먼저 빌드했는지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학습이 느림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상태바 장치가 GPU인지, 장치가 'CPU'로 고정돼 있지 않은지. 이미지 크기·batch 줄이기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오검이 많음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결함 없는 이미지를 O 키로 OK 표시해 배경으로 학습. conf 슬라이더 올리기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작은 결함을 놓침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Crop 데이터셋 또는 ATT-YOLO 1280으로 학습하고 Compare 탭에서 비교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CoreML 형식이 없음 / 막힘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CoreML은 Mac에서만, 컬러(3채널) 모델만 됩니다. 그레이 모델은 ONNX로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설치 상태가 의심스러움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터미널에서  DefectLab --self-check  (9개 모두 [OK]인지)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 tag"/>
          <p:cNvSpPr/>
          <p:nvPr/>
        </p:nvSpPr>
        <p:spPr>
          <a:xfrm>
            <a:off x="457200" y="475488"/>
            <a:ext cx="566928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topic icon" descr="폴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274320" cy="2743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143000" y="3474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프로젝트 폴더 구조</a:t>
            </a:r>
            <a:endParaRPr lang="en-US" sz="3000" dirty="0"/>
          </a:p>
        </p:txBody>
      </p:sp>
      <p:sp>
        <p:nvSpPr>
          <p:cNvPr id="5" name="tree 1"/>
          <p:cNvSpPr/>
          <p:nvPr/>
        </p:nvSpPr>
        <p:spPr>
          <a:xfrm>
            <a:off x="822960" y="1371600"/>
            <a:ext cx="329184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ree 1 name"/>
          <p:cNvSpPr txBox="1"/>
          <p:nvPr/>
        </p:nvSpPr>
        <p:spPr>
          <a:xfrm>
            <a:off x="960120" y="13716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project.yaml</a:t>
            </a:r>
            <a:endParaRPr lang="en-US" sz="1400" dirty="0"/>
          </a:p>
        </p:txBody>
      </p:sp>
      <p:sp>
        <p:nvSpPr>
          <p:cNvPr id="7" name="tree 1 desc"/>
          <p:cNvSpPr txBox="1"/>
          <p:nvPr/>
        </p:nvSpPr>
        <p:spPr>
          <a:xfrm>
            <a:off x="4389120" y="13716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클래스 · 설정 · 이미지 목록</a:t>
            </a:r>
            <a:endParaRPr lang="en-US" sz="1400" dirty="0"/>
          </a:p>
        </p:txBody>
      </p:sp>
      <p:sp>
        <p:nvSpPr>
          <p:cNvPr id="8" name="tree 2"/>
          <p:cNvSpPr/>
          <p:nvPr/>
        </p:nvSpPr>
        <p:spPr>
          <a:xfrm>
            <a:off x="822960" y="1938528"/>
            <a:ext cx="329184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9" name="tree 2 name"/>
          <p:cNvSpPr txBox="1"/>
          <p:nvPr/>
        </p:nvSpPr>
        <p:spPr>
          <a:xfrm>
            <a:off x="960120" y="19385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images/</a:t>
            </a:r>
            <a:endParaRPr lang="en-US" sz="1400" dirty="0"/>
          </a:p>
        </p:txBody>
      </p:sp>
      <p:sp>
        <p:nvSpPr>
          <p:cNvPr id="10" name="tree 2 desc"/>
          <p:cNvSpPr txBox="1"/>
          <p:nvPr/>
        </p:nvSpPr>
        <p:spPr>
          <a:xfrm>
            <a:off x="4389120" y="19385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추가한 원본 이미지 (복사본)</a:t>
            </a:r>
            <a:endParaRPr lang="en-US" sz="1400" dirty="0"/>
          </a:p>
        </p:txBody>
      </p:sp>
      <p:sp>
        <p:nvSpPr>
          <p:cNvPr id="11" name="tree 3"/>
          <p:cNvSpPr/>
          <p:nvPr/>
        </p:nvSpPr>
        <p:spPr>
          <a:xfrm>
            <a:off x="822960" y="2505456"/>
            <a:ext cx="329184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12" name="tree 3 name"/>
          <p:cNvSpPr txBox="1"/>
          <p:nvPr/>
        </p:nvSpPr>
        <p:spPr>
          <a:xfrm>
            <a:off x="960120" y="250545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labels/</a:t>
            </a:r>
            <a:endParaRPr lang="en-US" sz="1400" dirty="0"/>
          </a:p>
        </p:txBody>
      </p:sp>
      <p:sp>
        <p:nvSpPr>
          <p:cNvPr id="13" name="tree 3 desc"/>
          <p:cNvSpPr txBox="1"/>
          <p:nvPr/>
        </p:nvSpPr>
        <p:spPr>
          <a:xfrm>
            <a:off x="4389120" y="250545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라벨 JSON (원본) + YOLO txt (자동 생성)</a:t>
            </a:r>
            <a:endParaRPr lang="en-US" sz="1400" dirty="0"/>
          </a:p>
        </p:txBody>
      </p:sp>
      <p:sp>
        <p:nvSpPr>
          <p:cNvPr id="14" name="tree 4"/>
          <p:cNvSpPr/>
          <p:nvPr/>
        </p:nvSpPr>
        <p:spPr>
          <a:xfrm>
            <a:off x="822960" y="3072384"/>
            <a:ext cx="329184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ree 4 name"/>
          <p:cNvSpPr txBox="1"/>
          <p:nvPr/>
        </p:nvSpPr>
        <p:spPr>
          <a:xfrm>
            <a:off x="960120" y="307238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crops.json</a:t>
            </a:r>
            <a:endParaRPr lang="en-US" sz="1400" dirty="0"/>
          </a:p>
        </p:txBody>
      </p:sp>
      <p:sp>
        <p:nvSpPr>
          <p:cNvPr id="16" name="tree 4 desc"/>
          <p:cNvSpPr txBox="1"/>
          <p:nvPr/>
        </p:nvSpPr>
        <p:spPr>
          <a:xfrm>
            <a:off x="4389120" y="307238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Crop ROI</a:t>
            </a:r>
            <a:endParaRPr lang="en-US" sz="1400" dirty="0"/>
          </a:p>
        </p:txBody>
      </p:sp>
      <p:sp>
        <p:nvSpPr>
          <p:cNvPr id="17" name="tree 5"/>
          <p:cNvSpPr/>
          <p:nvPr/>
        </p:nvSpPr>
        <p:spPr>
          <a:xfrm>
            <a:off x="822960" y="3639312"/>
            <a:ext cx="329184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18" name="tree 5 name"/>
          <p:cNvSpPr txBox="1"/>
          <p:nvPr/>
        </p:nvSpPr>
        <p:spPr>
          <a:xfrm>
            <a:off x="960120" y="36393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dataset/full · dataset/crop</a:t>
            </a:r>
            <a:endParaRPr lang="en-US" sz="1400" dirty="0"/>
          </a:p>
        </p:txBody>
      </p:sp>
      <p:sp>
        <p:nvSpPr>
          <p:cNvPr id="19" name="tree 5 desc"/>
          <p:cNvSpPr txBox="1"/>
          <p:nvPr/>
        </p:nvSpPr>
        <p:spPr>
          <a:xfrm>
            <a:off x="4389120" y="363931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빌드한 학습 데이터셋</a:t>
            </a:r>
            <a:endParaRPr lang="en-US" sz="1400" dirty="0"/>
          </a:p>
        </p:txBody>
      </p:sp>
      <p:sp>
        <p:nvSpPr>
          <p:cNvPr id="20" name="tree 6"/>
          <p:cNvSpPr/>
          <p:nvPr/>
        </p:nvSpPr>
        <p:spPr>
          <a:xfrm>
            <a:off x="822960" y="4206240"/>
            <a:ext cx="329184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21" name="tree 6 name"/>
          <p:cNvSpPr txBox="1"/>
          <p:nvPr/>
        </p:nvSpPr>
        <p:spPr>
          <a:xfrm>
            <a:off x="960120" y="42062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runs/&lt;run_id&gt;/</a:t>
            </a:r>
            <a:endParaRPr lang="en-US" sz="1400" dirty="0"/>
          </a:p>
        </p:txBody>
      </p:sp>
      <p:sp>
        <p:nvSpPr>
          <p:cNvPr id="22" name="tree 6 desc"/>
          <p:cNvSpPr txBox="1"/>
          <p:nvPr/>
        </p:nvSpPr>
        <p:spPr>
          <a:xfrm>
            <a:off x="4389120" y="42062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학습 결과 · 가중치 · 이력</a:t>
            </a:r>
            <a:endParaRPr lang="en-US" sz="1400" dirty="0"/>
          </a:p>
        </p:txBody>
      </p:sp>
      <p:sp>
        <p:nvSpPr>
          <p:cNvPr id="23" name="tree 7"/>
          <p:cNvSpPr/>
          <p:nvPr/>
        </p:nvSpPr>
        <p:spPr>
          <a:xfrm>
            <a:off x="822960" y="4773168"/>
            <a:ext cx="329184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24" name="tree 7 name"/>
          <p:cNvSpPr txBox="1"/>
          <p:nvPr/>
        </p:nvSpPr>
        <p:spPr>
          <a:xfrm>
            <a:off x="960120" y="477316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exports/</a:t>
            </a:r>
            <a:endParaRPr lang="en-US" sz="1400" dirty="0"/>
          </a:p>
        </p:txBody>
      </p:sp>
      <p:sp>
        <p:nvSpPr>
          <p:cNvPr id="25" name="tree 7 desc"/>
          <p:cNvSpPr txBox="1"/>
          <p:nvPr/>
        </p:nvSpPr>
        <p:spPr>
          <a:xfrm>
            <a:off x="4389120" y="47731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ONNX · CoreML 파일</a:t>
            </a:r>
            <a:endParaRPr lang="en-US" sz="1400" dirty="0"/>
          </a:p>
        </p:txBody>
      </p:sp>
      <p:sp>
        <p:nvSpPr>
          <p:cNvPr id="26" name="tree 8"/>
          <p:cNvSpPr/>
          <p:nvPr/>
        </p:nvSpPr>
        <p:spPr>
          <a:xfrm>
            <a:off x="822960" y="5340096"/>
            <a:ext cx="329184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27" name="tree 8 name"/>
          <p:cNvSpPr txBox="1"/>
          <p:nvPr/>
        </p:nvSpPr>
        <p:spPr>
          <a:xfrm>
            <a:off x="960120" y="534009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reports/</a:t>
            </a:r>
            <a:endParaRPr lang="en-US" sz="1400" dirty="0"/>
          </a:p>
        </p:txBody>
      </p:sp>
      <p:sp>
        <p:nvSpPr>
          <p:cNvPr id="28" name="tree 8 desc"/>
          <p:cNvSpPr txBox="1"/>
          <p:nvPr/>
        </p:nvSpPr>
        <p:spPr>
          <a:xfrm>
            <a:off x="4389120" y="534009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HTML 비교 리포트</a:t>
            </a:r>
            <a:endParaRPr lang="en-US" sz="1400" dirty="0"/>
          </a:p>
        </p:txBody>
      </p:sp>
      <p:sp>
        <p:nvSpPr>
          <p:cNvPr id="29" name="note box"/>
          <p:cNvSpPr/>
          <p:nvPr/>
        </p:nvSpPr>
        <p:spPr>
          <a:xfrm>
            <a:off x="8412480" y="1371600"/>
            <a:ext cx="33375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note text"/>
          <p:cNvSpPr txBox="1"/>
          <p:nvPr/>
        </p:nvSpPr>
        <p:spPr>
          <a:xfrm>
            <a:off x="8595360" y="137160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프로젝트는 폴더 하나에 모두 들어 있습니다. 폴더째 복사하면 다른 PC(Windows · Linux · Mac)에서 '프로젝트 열기'로 이어서 작업할 수 있습니다.</a:t>
            </a:r>
            <a:endParaRPr lang="en-US" sz="1400" dirty="0"/>
          </a:p>
        </p:txBody>
      </p:sp>
      <p:sp>
        <p:nvSpPr>
          <p:cNvPr id="31" name="note box"/>
          <p:cNvSpPr/>
          <p:nvPr/>
        </p:nvSpPr>
        <p:spPr>
          <a:xfrm>
            <a:off x="8412480" y="3794760"/>
            <a:ext cx="33375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note text"/>
          <p:cNvSpPr txBox="1"/>
          <p:nvPr/>
        </p:nvSpPr>
        <p:spPr>
          <a:xfrm>
            <a:off x="8595360" y="37947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Train/Val 분할은 저장하지 않고 매번 같은 규칙(시드)으로 계산하므로 어느 PC에서도 같습니다.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처음 해 볼 때 순서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E8"/>
                </a:solidFill>
              </a:rPr>
              <a:t>결함 이미지 10장과 정상 이미지 몇 장이면 시작할 수 있습니다</a:t>
            </a:r>
            <a:endParaRPr lang="en-US" sz="1800" dirty="0"/>
          </a:p>
        </p:txBody>
      </p:sp>
      <p:sp>
        <p:nvSpPr>
          <p:cNvPr id="4" name="badge 1"/>
          <p:cNvSpPr/>
          <p:nvPr/>
        </p:nvSpPr>
        <p:spPr>
          <a:xfrm>
            <a:off x="6812280" y="1271016"/>
            <a:ext cx="420624" cy="42062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" name="badge 1 text"/>
          <p:cNvSpPr txBox="1"/>
          <p:nvPr/>
        </p:nvSpPr>
        <p:spPr>
          <a:xfrm>
            <a:off x="6812280" y="1271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quick 1"/>
          <p:cNvSpPr txBox="1"/>
          <p:nvPr/>
        </p:nvSpPr>
        <p:spPr>
          <a:xfrm>
            <a:off x="7406640" y="1234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⌘N → 폴더·작업·색 모드</a:t>
            </a:r>
            <a:endParaRPr lang="en-US" sz="1700" dirty="0"/>
          </a:p>
        </p:txBody>
      </p:sp>
      <p:sp>
        <p:nvSpPr>
          <p:cNvPr id="7" name="badge 2"/>
          <p:cNvSpPr/>
          <p:nvPr/>
        </p:nvSpPr>
        <p:spPr>
          <a:xfrm>
            <a:off x="6812280" y="2020824"/>
            <a:ext cx="420624" cy="42062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badge 2 text"/>
          <p:cNvSpPr txBox="1"/>
          <p:nvPr/>
        </p:nvSpPr>
        <p:spPr>
          <a:xfrm>
            <a:off x="6812280" y="2020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quick 2"/>
          <p:cNvSpPr txBox="1"/>
          <p:nvPr/>
        </p:nvSpPr>
        <p:spPr>
          <a:xfrm>
            <a:off x="7406640" y="19842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⌘I → 이미지 폴더 추가, + 클래스</a:t>
            </a:r>
            <a:endParaRPr lang="en-US" sz="1700" dirty="0"/>
          </a:p>
        </p:txBody>
      </p:sp>
      <p:sp>
        <p:nvSpPr>
          <p:cNvPr id="10" name="badge 3"/>
          <p:cNvSpPr/>
          <p:nvPr/>
        </p:nvSpPr>
        <p:spPr>
          <a:xfrm>
            <a:off x="6812280" y="2770632"/>
            <a:ext cx="420624" cy="42062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badge 3 text"/>
          <p:cNvSpPr txBox="1"/>
          <p:nvPr/>
        </p:nvSpPr>
        <p:spPr>
          <a:xfrm>
            <a:off x="6812280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quick 3"/>
          <p:cNvSpPr txBox="1"/>
          <p:nvPr/>
        </p:nvSpPr>
        <p:spPr>
          <a:xfrm>
            <a:off x="7406640" y="273405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B / S로 라벨, 정상 이미지는 O</a:t>
            </a:r>
            <a:endParaRPr lang="en-US" sz="1700" dirty="0"/>
          </a:p>
        </p:txBody>
      </p:sp>
      <p:sp>
        <p:nvSpPr>
          <p:cNvPr id="13" name="badge 4"/>
          <p:cNvSpPr/>
          <p:nvPr/>
        </p:nvSpPr>
        <p:spPr>
          <a:xfrm>
            <a:off x="6812280" y="3520440"/>
            <a:ext cx="420624" cy="42062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badge 4 text"/>
          <p:cNvSpPr txBox="1"/>
          <p:nvPr/>
        </p:nvSpPr>
        <p:spPr>
          <a:xfrm>
            <a:off x="681228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quick 4"/>
          <p:cNvSpPr txBox="1"/>
          <p:nvPr/>
        </p:nvSpPr>
        <p:spPr>
          <a:xfrm>
            <a:off x="7406640" y="34838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Augment → '보통' 프리셋 → 데이터셋 빌드</a:t>
            </a:r>
            <a:endParaRPr lang="en-US" sz="1700" dirty="0"/>
          </a:p>
        </p:txBody>
      </p:sp>
      <p:sp>
        <p:nvSpPr>
          <p:cNvPr id="16" name="badge 5"/>
          <p:cNvSpPr/>
          <p:nvPr/>
        </p:nvSpPr>
        <p:spPr>
          <a:xfrm>
            <a:off x="6812280" y="4270248"/>
            <a:ext cx="420624" cy="42062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badge 5 text"/>
          <p:cNvSpPr txBox="1"/>
          <p:nvPr/>
        </p:nvSpPr>
        <p:spPr>
          <a:xfrm>
            <a:off x="6812280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quick 5"/>
          <p:cNvSpPr txBox="1"/>
          <p:nvPr/>
        </p:nvSpPr>
        <p:spPr>
          <a:xfrm>
            <a:off x="7406640" y="42336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Train → yolo11s → 학습 시작</a:t>
            </a:r>
            <a:endParaRPr lang="en-US" sz="1700" dirty="0"/>
          </a:p>
        </p:txBody>
      </p:sp>
      <p:sp>
        <p:nvSpPr>
          <p:cNvPr id="19" name="badge 6"/>
          <p:cNvSpPr/>
          <p:nvPr/>
        </p:nvSpPr>
        <p:spPr>
          <a:xfrm>
            <a:off x="6812280" y="5020056"/>
            <a:ext cx="420624" cy="42062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badge 6 text"/>
          <p:cNvSpPr txBox="1"/>
          <p:nvPr/>
        </p:nvSpPr>
        <p:spPr>
          <a:xfrm>
            <a:off x="6812280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quick 6"/>
          <p:cNvSpPr txBox="1"/>
          <p:nvPr/>
        </p:nvSpPr>
        <p:spPr>
          <a:xfrm>
            <a:off x="7406640" y="4983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Result에서 확인 → Export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ectLab">
  <a:themeElements>
    <a:clrScheme name="DefectLab">
      <a:dk1>
        <a:srgbClr val="1B2430"/>
      </a:dk1>
      <a:lt1>
        <a:srgbClr val="FFFFFF"/>
      </a:lt1>
      <a:dk2>
        <a:srgbClr val="3A4756"/>
      </a:dk2>
      <a:lt2>
        <a:srgbClr val="EEF2F5"/>
      </a:lt2>
      <a:accent1>
        <a:srgbClr val="E8692C"/>
      </a:accent1>
      <a:accent2>
        <a:srgbClr val="2A78D6"/>
      </a:accent2>
      <a:accent3>
        <a:srgbClr val="2E9D57"/>
      </a:accent3>
      <a:accent4>
        <a:srgbClr val="D7385E"/>
      </a:accent4>
      <a:accent5>
        <a:srgbClr val="7B8794"/>
      </a:accent5>
      <a:accent6>
        <a:srgbClr val="F2B33D"/>
      </a:accent6>
      <a:hlink>
        <a:srgbClr val="2A78D6"/>
      </a:hlink>
      <a:folHlink>
        <a:srgbClr val="7B4FD0"/>
      </a:folHlink>
    </a:clrScheme>
    <a:fontScheme name="DefectLab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DefectLab 사용 설명서</dc:title>
  <dc:subject>PptxGenJS Presentation</dc:subject>
  <dc:creator>DefectLab</dc:creator>
  <cp:lastModifiedBy>DefectLab</cp:lastModifiedBy>
  <cp:revision>1</cp:revision>
  <dcterms:created xsi:type="dcterms:W3CDTF">2026-10-21T06:34:10Z</dcterms:created>
  <dcterms:modified xsi:type="dcterms:W3CDTF">2026-10-21T06:34:10Z</dcterms:modified>
</cp:coreProperties>
</file>